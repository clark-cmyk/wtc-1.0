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0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1.xml" ContentType="application/vnd.openxmlformats-officedocument.presentationml.notesSlide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3.xml" ContentType="application/vnd.openxmlformats-officedocument.presentationml.notesSlide+xml"/>
  <Override PartName="/ppt/tags/tag29.xml" ContentType="application/vnd.openxmlformats-officedocument.presentationml.tags+xml"/>
  <Override PartName="/ppt/notesSlides/notesSlide14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80" r:id="rId2"/>
    <p:sldId id="474" r:id="rId3"/>
    <p:sldId id="590" r:id="rId4"/>
    <p:sldId id="687" r:id="rId5"/>
    <p:sldId id="689" r:id="rId6"/>
    <p:sldId id="609" r:id="rId7"/>
    <p:sldId id="440" r:id="rId8"/>
    <p:sldId id="601" r:id="rId9"/>
    <p:sldId id="607" r:id="rId10"/>
    <p:sldId id="592" r:id="rId11"/>
    <p:sldId id="608" r:id="rId12"/>
    <p:sldId id="570" r:id="rId13"/>
    <p:sldId id="602" r:id="rId14"/>
    <p:sldId id="605" r:id="rId15"/>
    <p:sldId id="600" r:id="rId16"/>
    <p:sldId id="606" r:id="rId17"/>
    <p:sldId id="506" r:id="rId18"/>
  </p:sldIdLst>
  <p:sldSz cx="10058400" cy="7772400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992" userDrawn="1">
          <p15:clr>
            <a:srgbClr val="A4A3A4"/>
          </p15:clr>
        </p15:guide>
        <p15:guide id="3" pos="336" userDrawn="1">
          <p15:clr>
            <a:srgbClr val="A4A3A4"/>
          </p15:clr>
        </p15:guide>
        <p15:guide id="4" pos="3360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6" pos="6048" userDrawn="1">
          <p15:clr>
            <a:srgbClr val="A4A3A4"/>
          </p15:clr>
        </p15:guide>
        <p15:guide id="7" orient="horz" pos="1247" userDrawn="1">
          <p15:clr>
            <a:srgbClr val="A4A3A4"/>
          </p15:clr>
        </p15:guide>
        <p15:guide id="8" orient="horz" pos="867" userDrawn="1">
          <p15:clr>
            <a:srgbClr val="A4A3A4"/>
          </p15:clr>
        </p15:guide>
        <p15:guide id="9" pos="4176" userDrawn="1">
          <p15:clr>
            <a:srgbClr val="A4A3A4"/>
          </p15:clr>
        </p15:guide>
        <p15:guide id="10" pos="288" userDrawn="1">
          <p15:clr>
            <a:srgbClr val="A4A3A4"/>
          </p15:clr>
        </p15:guide>
        <p15:guide id="11" orient="horz" pos="6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16"/>
    <a:srgbClr val="004010"/>
    <a:srgbClr val="B6B6B6"/>
    <a:srgbClr val="004082"/>
    <a:srgbClr val="6A97D4"/>
    <a:srgbClr val="CEA774"/>
    <a:srgbClr val="7F7F7F"/>
    <a:srgbClr val="00503B"/>
    <a:srgbClr val="33C333"/>
    <a:srgbClr val="F6A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5986" autoAdjust="0"/>
  </p:normalViewPr>
  <p:slideViewPr>
    <p:cSldViewPr snapToObjects="1">
      <p:cViewPr varScale="1">
        <p:scale>
          <a:sx n="104" d="100"/>
          <a:sy n="104" d="100"/>
        </p:scale>
        <p:origin x="2688" y="208"/>
      </p:cViewPr>
      <p:guideLst>
        <p:guide orient="horz"/>
        <p:guide pos="2992"/>
        <p:guide pos="336"/>
        <p:guide pos="3360"/>
        <p:guide orient="horz" pos="768"/>
        <p:guide pos="6048"/>
        <p:guide orient="horz" pos="1247"/>
        <p:guide orient="horz" pos="867"/>
        <p:guide pos="4176"/>
        <p:guide pos="288"/>
        <p:guide orient="horz" pos="67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5" d="100"/>
          <a:sy n="85" d="100"/>
        </p:scale>
        <p:origin x="-3108" y="-78"/>
      </p:cViewPr>
      <p:guideLst>
        <p:guide orient="horz" pos="2924"/>
        <p:guide pos="22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971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8" tIns="46514" rIns="93028" bIns="46514" numCol="1" anchor="t" anchorCtr="0" compatLnSpc="1">
            <a:prstTxWarp prst="textNoShape">
              <a:avLst/>
            </a:prstTxWarp>
          </a:bodyPr>
          <a:lstStyle>
            <a:lvl1pPr defTabSz="930372">
              <a:defRPr sz="1200"/>
            </a:lvl1pPr>
          </a:lstStyle>
          <a:p>
            <a:endParaRPr 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146" y="0"/>
            <a:ext cx="3032971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8" tIns="46514" rIns="93028" bIns="46514" numCol="1" anchor="t" anchorCtr="0" compatLnSpc="1">
            <a:prstTxWarp prst="textNoShape">
              <a:avLst/>
            </a:prstTxWarp>
          </a:bodyPr>
          <a:lstStyle>
            <a:lvl1pPr algn="r" defTabSz="930372">
              <a:defRPr sz="1200"/>
            </a:lvl1pPr>
          </a:lstStyle>
          <a:p>
            <a:endParaRPr lang="en-US" dirty="0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7612"/>
            <a:ext cx="3032971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8" tIns="46514" rIns="93028" bIns="46514" numCol="1" anchor="b" anchorCtr="0" compatLnSpc="1">
            <a:prstTxWarp prst="textNoShape">
              <a:avLst/>
            </a:prstTxWarp>
          </a:bodyPr>
          <a:lstStyle>
            <a:lvl1pPr defTabSz="930372">
              <a:defRPr sz="1200"/>
            </a:lvl1pPr>
          </a:lstStyle>
          <a:p>
            <a:endParaRPr lang="en-US" dirty="0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146" y="8817612"/>
            <a:ext cx="3032971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8" tIns="46514" rIns="93028" bIns="46514" numCol="1" anchor="b" anchorCtr="0" compatLnSpc="1">
            <a:prstTxWarp prst="textNoShape">
              <a:avLst/>
            </a:prstTxWarp>
          </a:bodyPr>
          <a:lstStyle>
            <a:lvl1pPr algn="r" defTabSz="930372">
              <a:defRPr sz="1200"/>
            </a:lvl1pPr>
          </a:lstStyle>
          <a:p>
            <a:fld id="{2E492B46-61FF-4922-AD91-59467175884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6805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971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8" tIns="46514" rIns="93028" bIns="46514" numCol="1" anchor="t" anchorCtr="0" compatLnSpc="1">
            <a:prstTxWarp prst="textNoShape">
              <a:avLst/>
            </a:prstTxWarp>
          </a:bodyPr>
          <a:lstStyle>
            <a:lvl1pPr defTabSz="930372">
              <a:defRPr sz="1200"/>
            </a:lvl1pPr>
          </a:lstStyle>
          <a:p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146" y="0"/>
            <a:ext cx="3032971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8" tIns="46514" rIns="93028" bIns="46514" numCol="1" anchor="t" anchorCtr="0" compatLnSpc="1">
            <a:prstTxWarp prst="textNoShape">
              <a:avLst/>
            </a:prstTxWarp>
          </a:bodyPr>
          <a:lstStyle>
            <a:lvl1pPr algn="r" defTabSz="930372">
              <a:defRPr sz="1200"/>
            </a:lvl1pPr>
          </a:lstStyle>
          <a:p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6188" y="695325"/>
            <a:ext cx="4505325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404" y="4410392"/>
            <a:ext cx="5596892" cy="4177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8" tIns="46514" rIns="93028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7612"/>
            <a:ext cx="3032971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8" tIns="46514" rIns="93028" bIns="46514" numCol="1" anchor="b" anchorCtr="0" compatLnSpc="1">
            <a:prstTxWarp prst="textNoShape">
              <a:avLst/>
            </a:prstTxWarp>
          </a:bodyPr>
          <a:lstStyle>
            <a:lvl1pPr defTabSz="930372">
              <a:defRPr sz="1200"/>
            </a:lvl1pPr>
          </a:lstStyle>
          <a:p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146" y="8817612"/>
            <a:ext cx="3032971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8" tIns="46514" rIns="93028" bIns="46514" numCol="1" anchor="b" anchorCtr="0" compatLnSpc="1">
            <a:prstTxWarp prst="textNoShape">
              <a:avLst/>
            </a:prstTxWarp>
          </a:bodyPr>
          <a:lstStyle>
            <a:lvl1pPr algn="r" defTabSz="930372">
              <a:defRPr sz="1200"/>
            </a:lvl1pPr>
          </a:lstStyle>
          <a:p>
            <a:fld id="{B8720FD9-BB33-4416-9E19-C1C8DFBFB59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590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21591E-F21B-402D-8234-568C413DCBDB}" type="slidenum">
              <a:rPr lang="en-US"/>
              <a:pPr/>
              <a:t>0</a:t>
            </a:fld>
            <a:endParaRPr lang="en-US" dirty="0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135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1761" indent="-285293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1171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597640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4108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0577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67045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3514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79982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19B45CA8-5777-47B3-AF83-E268FDF9B814}" type="slidenum">
              <a:rPr lang="en-US" sz="1200"/>
              <a:pPr eaLnBrk="1" hangingPunct="1"/>
              <a:t>1</a:t>
            </a:fld>
            <a:endParaRPr lang="en-US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288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21591E-F21B-402D-8234-568C413DCBDB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85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9C82901F-8E86-4C44-B53C-F49A3DCF8A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A030A2B2-4EF3-42A6-A634-DCC83C9A9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BBB4FB6D-0F9D-4FED-ABD5-D8DEC8E581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1545" indent="-285209"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0836" indent="-228167"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597172" indent="-228167"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3506" indent="-228167"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09842" indent="-228167" defTabSz="93802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66176" indent="-228167" defTabSz="93802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2510" indent="-228167" defTabSz="93802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78844" indent="-228167" defTabSz="93802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32C34F35-93F5-4DC6-838B-BEA102790242}" type="slidenum">
              <a:rPr lang="en-US" altLang="en-US" sz="1300"/>
              <a:pPr/>
              <a:t>3</a:t>
            </a:fld>
            <a:endParaRPr lang="en-US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647556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9C82901F-8E86-4C44-B53C-F49A3DCF8A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A030A2B2-4EF3-42A6-A634-DCC83C9A9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BBB4FB6D-0F9D-4FED-ABD5-D8DEC8E581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1545" indent="-285209"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0836" indent="-228167"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597172" indent="-228167"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3506" indent="-228167" defTabSz="938020"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09842" indent="-228167" defTabSz="93802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66176" indent="-228167" defTabSz="93802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2510" indent="-228167" defTabSz="93802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78844" indent="-228167" defTabSz="93802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32C34F35-93F5-4DC6-838B-BEA102790242}" type="slidenum">
              <a:rPr lang="en-US" altLang="en-US" sz="1300"/>
              <a:pPr/>
              <a:t>4</a:t>
            </a:fld>
            <a:endParaRPr lang="en-US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445257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1761" indent="-285293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1171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597640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4108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0577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67045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3514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79982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19B45CA8-5777-47B3-AF83-E268FDF9B814}" type="slidenum">
              <a:rPr lang="en-US" sz="1200"/>
              <a:pPr eaLnBrk="1" hangingPunct="1"/>
              <a:t>6</a:t>
            </a:fld>
            <a:endParaRPr lang="en-US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603138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1761" indent="-285293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1171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597640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4108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0577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67045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3514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79982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19B45CA8-5777-47B3-AF83-E268FDF9B814}" type="slidenum">
              <a:rPr lang="en-US" sz="1200"/>
              <a:pPr eaLnBrk="1" hangingPunct="1"/>
              <a:t>7</a:t>
            </a:fld>
            <a:endParaRPr lang="en-US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8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1761" indent="-285293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1171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597640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4108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0577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67045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3514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79982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19B45CA8-5777-47B3-AF83-E268FDF9B814}" type="slidenum">
              <a:rPr lang="en-US" sz="1200"/>
              <a:pPr eaLnBrk="1" hangingPunct="1"/>
              <a:t>8</a:t>
            </a:fld>
            <a:endParaRPr lang="en-US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4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21591E-F21B-402D-8234-568C413DCBDB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664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1761" indent="-285293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1171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597640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4108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0577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67045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3514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79982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19B45CA8-5777-47B3-AF83-E268FDF9B814}" type="slidenum">
              <a:rPr lang="en-US" sz="1200"/>
              <a:pPr eaLnBrk="1" hangingPunct="1"/>
              <a:t>10</a:t>
            </a:fld>
            <a:endParaRPr lang="en-US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835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1761" indent="-285293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1171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597640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4108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0577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67045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3514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79982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19B45CA8-5777-47B3-AF83-E268FDF9B814}" type="slidenum">
              <a:rPr lang="en-US" sz="1200"/>
              <a:pPr eaLnBrk="1" hangingPunct="1"/>
              <a:t>11</a:t>
            </a:fld>
            <a:endParaRPr lang="en-US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234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21591E-F21B-402D-8234-568C413DCBDB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64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1761" indent="-285293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1171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597640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4108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0577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67045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3514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79982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19B45CA8-5777-47B3-AF83-E268FDF9B814}" type="slidenum">
              <a:rPr lang="en-US" sz="1200"/>
              <a:pPr eaLnBrk="1" hangingPunct="1"/>
              <a:t>13</a:t>
            </a:fld>
            <a:endParaRPr lang="en-US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925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21591E-F21B-402D-8234-568C413DCBDB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110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1761" indent="-285293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1171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597640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4108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0577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67045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3514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79982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19B45CA8-5777-47B3-AF83-E268FDF9B814}" type="slidenum">
              <a:rPr lang="en-US" sz="1200"/>
              <a:pPr eaLnBrk="1" hangingPunct="1"/>
              <a:t>15</a:t>
            </a:fld>
            <a:endParaRPr lang="en-US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78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1761" indent="-285293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1171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597640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4108" indent="-228234" defTabSz="930372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0577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67045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3514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79982" indent="-228234" defTabSz="930372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19B45CA8-5777-47B3-AF83-E268FDF9B814}" type="slidenum">
              <a:rPr lang="en-US" sz="1200"/>
              <a:pPr eaLnBrk="1" hangingPunct="1"/>
              <a:t>16</a:t>
            </a:fld>
            <a:endParaRPr lang="en-US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651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6" name="Rectangle 90"/>
          <p:cNvSpPr>
            <a:spLocks noGrp="1" noChangeArrowheads="1"/>
          </p:cNvSpPr>
          <p:nvPr>
            <p:ph type="ctrTitle"/>
          </p:nvPr>
        </p:nvSpPr>
        <p:spPr>
          <a:xfrm>
            <a:off x="684213" y="3330645"/>
            <a:ext cx="8226425" cy="353943"/>
          </a:xfrm>
          <a:ln/>
        </p:spPr>
        <p:txBody>
          <a:bodyPr tIns="0" rIns="0" bIns="0" anchor="b"/>
          <a:lstStyle>
            <a:lvl1pPr marL="3175">
              <a:defRPr sz="2400">
                <a:solidFill>
                  <a:srgbClr val="004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667" name="Rectangle 9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4213" y="3983038"/>
            <a:ext cx="8226425" cy="265457"/>
          </a:xfrm>
        </p:spPr>
        <p:txBody>
          <a:bodyPr tIns="0" rIns="0" bIns="0">
            <a:spAutoFit/>
          </a:bodyPr>
          <a:lstStyle>
            <a:lvl1pPr marL="3175" indent="0">
              <a:spcBef>
                <a:spcPct val="35000"/>
              </a:spcBef>
              <a:buFont typeface="Wingdings" pitchFamily="2" charset="2"/>
              <a:buNone/>
              <a:defRPr sz="1800" b="1">
                <a:solidFill>
                  <a:srgbClr val="00401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683" name="Rectangle 10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31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C9BAFE-4C6B-48BC-8DD1-BCC4A60E188C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31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3" y="958850"/>
            <a:ext cx="9140825" cy="3984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62088"/>
            <a:ext cx="4343400" cy="5484812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3038" y="1462088"/>
            <a:ext cx="4343400" cy="5484812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94E874-6D3C-428B-9DF0-161DF3E4B76A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3" y="958850"/>
            <a:ext cx="9140825" cy="3984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62088"/>
            <a:ext cx="2743200" cy="5484812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4425" y="1462088"/>
            <a:ext cx="2743200" cy="5484812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94E874-6D3C-428B-9DF0-161DF3E4B76A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12"/>
          </p:nvPr>
        </p:nvSpPr>
        <p:spPr>
          <a:xfrm>
            <a:off x="6853238" y="1462088"/>
            <a:ext cx="2743200" cy="5484812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3" y="958850"/>
            <a:ext cx="9140825" cy="3984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62088"/>
            <a:ext cx="4343400" cy="2514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13" y="4270248"/>
            <a:ext cx="4343400" cy="2514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94E874-6D3C-428B-9DF0-161DF3E4B76A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12"/>
          </p:nvPr>
        </p:nvSpPr>
        <p:spPr>
          <a:xfrm>
            <a:off x="5253038" y="1462088"/>
            <a:ext cx="4343400" cy="2514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5253038" y="4270248"/>
            <a:ext cx="4343400" cy="2514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 smtClean="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defRPr lang="en-US" sz="1400" kern="1200">
                <a:solidFill>
                  <a:srgbClr val="004010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3" y="958850"/>
            <a:ext cx="9140825" cy="3984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94E874-6D3C-428B-9DF0-161DF3E4B76A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62088"/>
            <a:ext cx="9144000" cy="228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3"/>
          <p:cNvSpPr>
            <a:spLocks noGrp="1"/>
          </p:cNvSpPr>
          <p:nvPr>
            <p:ph sz="half" idx="2"/>
          </p:nvPr>
        </p:nvSpPr>
        <p:spPr>
          <a:xfrm>
            <a:off x="455613" y="2791910"/>
            <a:ext cx="9144000" cy="228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Content Placeholder 2"/>
          <p:cNvSpPr>
            <a:spLocks noGrp="1"/>
          </p:cNvSpPr>
          <p:nvPr>
            <p:ph sz="half" idx="12"/>
          </p:nvPr>
        </p:nvSpPr>
        <p:spPr>
          <a:xfrm>
            <a:off x="455613" y="4121732"/>
            <a:ext cx="9144000" cy="228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Content Placeholder 3"/>
          <p:cNvSpPr>
            <a:spLocks noGrp="1"/>
          </p:cNvSpPr>
          <p:nvPr>
            <p:ph sz="half" idx="13"/>
          </p:nvPr>
        </p:nvSpPr>
        <p:spPr>
          <a:xfrm>
            <a:off x="455613" y="5451554"/>
            <a:ext cx="9144000" cy="228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2"/>
          <p:cNvSpPr>
            <a:spLocks noGrp="1"/>
          </p:cNvSpPr>
          <p:nvPr>
            <p:ph sz="half" idx="14"/>
          </p:nvPr>
        </p:nvSpPr>
        <p:spPr>
          <a:xfrm>
            <a:off x="455613" y="2126999"/>
            <a:ext cx="9144000" cy="228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Content Placeholder 3"/>
          <p:cNvSpPr>
            <a:spLocks noGrp="1"/>
          </p:cNvSpPr>
          <p:nvPr>
            <p:ph sz="half" idx="15"/>
          </p:nvPr>
        </p:nvSpPr>
        <p:spPr>
          <a:xfrm>
            <a:off x="455613" y="3456821"/>
            <a:ext cx="9144000" cy="228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Content Placeholder 2"/>
          <p:cNvSpPr>
            <a:spLocks noGrp="1"/>
          </p:cNvSpPr>
          <p:nvPr>
            <p:ph sz="half" idx="16"/>
          </p:nvPr>
        </p:nvSpPr>
        <p:spPr>
          <a:xfrm>
            <a:off x="455613" y="4786643"/>
            <a:ext cx="9144000" cy="228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Content Placeholder 3"/>
          <p:cNvSpPr>
            <a:spLocks noGrp="1"/>
          </p:cNvSpPr>
          <p:nvPr>
            <p:ph sz="half" idx="17"/>
          </p:nvPr>
        </p:nvSpPr>
        <p:spPr>
          <a:xfrm>
            <a:off x="455613" y="6116462"/>
            <a:ext cx="9144000" cy="22860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 smtClean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algn="l" defTabSz="1019175" rtl="0" fontAlgn="base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lang="en-US" sz="900" kern="1200" dirty="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6C51CA9-2039-4055-9B2B-A8D8EB466525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E3736C9-20D3-4622-9629-3567CBE1E7C0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20DCD4-1597-4050-BB4D-76F33AF83957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_Subtitle__No_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C628D2-89F6-CC49-B594-60DD83831E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97420"/>
            <a:ext cx="10058400" cy="47498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126A557A-6559-1647-A197-7D0FD1C462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6673" y="7395391"/>
            <a:ext cx="1282402" cy="1777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algn="l" latinLnBrk="0"/>
            <a:r>
              <a:rPr lang="en-US" altLang="ko-KR" sz="1155" b="0" i="0" dirty="0">
                <a:solidFill>
                  <a:schemeClr val="bg1">
                    <a:lumMod val="85000"/>
                  </a:schemeClr>
                </a:solidFill>
                <a:effectLst/>
                <a:latin typeface="Montserrat" pitchFamily="2" charset="77"/>
                <a:ea typeface="Gotham-Book" charset="0"/>
                <a:cs typeface="Gotham-Book" charset="0"/>
              </a:rPr>
              <a:t>WHOLE OCEANS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25A247-E674-C246-87C5-5D559AE2C8B2}"/>
              </a:ext>
            </a:extLst>
          </p:cNvPr>
          <p:cNvSpPr txBox="1"/>
          <p:nvPr userDrawn="1"/>
        </p:nvSpPr>
        <p:spPr>
          <a:xfrm>
            <a:off x="8024376" y="7360277"/>
            <a:ext cx="1625403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5" i="1" dirty="0">
                <a:solidFill>
                  <a:srgbClr val="D9D9D9"/>
                </a:solidFill>
              </a:rPr>
              <a:t>Confidential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CCC6306-C108-0E47-9DBE-0F6F9C87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601" y="7572235"/>
            <a:ext cx="454736" cy="146194"/>
          </a:xfrm>
          <a:prstGeom prst="rect">
            <a:avLst/>
          </a:prstGeom>
        </p:spPr>
        <p:txBody>
          <a:bodyPr/>
          <a:lstStyle>
            <a:lvl1pPr algn="r">
              <a:defRPr b="0">
                <a:ln>
                  <a:noFill/>
                </a:ln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C33509E8-EDB3-4BFB-9C63-B01D176D435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247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pos="5472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288">
          <p15:clr>
            <a:srgbClr val="FBAE40"/>
          </p15:clr>
        </p15:guide>
        <p15:guide id="5" pos="2880">
          <p15:clr>
            <a:srgbClr val="FBAE40"/>
          </p15:clr>
        </p15:guide>
        <p15:guide id="6" orient="horz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Text Box 115"/>
          <p:cNvSpPr txBox="1">
            <a:spLocks noChangeArrowheads="1"/>
          </p:cNvSpPr>
          <p:nvPr userDrawn="1"/>
        </p:nvSpPr>
        <p:spPr bwMode="gray">
          <a:xfrm>
            <a:off x="6183313" y="623888"/>
            <a:ext cx="3414712" cy="320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tIns="91440" anchor="b">
            <a:spAutoFit/>
          </a:bodyPr>
          <a:lstStyle/>
          <a:p>
            <a:pPr algn="r" defTabSz="1019175"/>
            <a:r>
              <a:rPr lang="en-US" sz="1200" b="1" i="1" dirty="0">
                <a:solidFill>
                  <a:srgbClr val="004010"/>
                </a:solidFill>
              </a:rPr>
              <a:t>Confidential</a:t>
            </a:r>
            <a:endParaRPr lang="en-US" dirty="0">
              <a:solidFill>
                <a:srgbClr val="00401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 userDrawn="1">
            <p:ph type="body" idx="1"/>
          </p:nvPr>
        </p:nvSpPr>
        <p:spPr bwMode="gray">
          <a:xfrm>
            <a:off x="455613" y="1462088"/>
            <a:ext cx="9140825" cy="54848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00" name="Line 76"/>
          <p:cNvSpPr>
            <a:spLocks noChangeShapeType="1"/>
          </p:cNvSpPr>
          <p:nvPr userDrawn="1"/>
        </p:nvSpPr>
        <p:spPr bwMode="gray">
          <a:xfrm>
            <a:off x="455613" y="958850"/>
            <a:ext cx="9140825" cy="0"/>
          </a:xfrm>
          <a:prstGeom prst="line">
            <a:avLst/>
          </a:prstGeom>
          <a:noFill/>
          <a:ln w="25400">
            <a:solidFill>
              <a:srgbClr val="00401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129" name="Line 105"/>
          <p:cNvSpPr>
            <a:spLocks noChangeShapeType="1"/>
          </p:cNvSpPr>
          <p:nvPr userDrawn="1"/>
        </p:nvSpPr>
        <p:spPr bwMode="gray">
          <a:xfrm>
            <a:off x="455613" y="7119938"/>
            <a:ext cx="9140825" cy="0"/>
          </a:xfrm>
          <a:prstGeom prst="line">
            <a:avLst/>
          </a:prstGeom>
          <a:noFill/>
          <a:ln w="19050">
            <a:solidFill>
              <a:srgbClr val="00401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134" name="Rectangle 110"/>
          <p:cNvSpPr>
            <a:spLocks noGrp="1" noChangeArrowheads="1"/>
          </p:cNvSpPr>
          <p:nvPr userDrawn="1">
            <p:ph type="title"/>
          </p:nvPr>
        </p:nvSpPr>
        <p:spPr bwMode="gray">
          <a:xfrm>
            <a:off x="455613" y="958850"/>
            <a:ext cx="9140825" cy="4039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9144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defTabSz="1019175" rtl="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8921750" algn="r"/>
              </a:tabLst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41" name="Rectangle 117"/>
          <p:cNvSpPr>
            <a:spLocks noGrp="1" noChangeArrowheads="1"/>
          </p:cNvSpPr>
          <p:nvPr userDrawn="1">
            <p:ph type="sldNum" sz="quarter" idx="4"/>
          </p:nvPr>
        </p:nvSpPr>
        <p:spPr bwMode="gray">
          <a:xfrm>
            <a:off x="4732338" y="7218524"/>
            <a:ext cx="593725" cy="147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  <a:spAutoFit/>
          </a:bodyPr>
          <a:lstStyle>
            <a:lvl1pPr algn="ctr" defTabSz="1019175">
              <a:lnSpc>
                <a:spcPct val="95000"/>
              </a:lnSpc>
              <a:defRPr sz="1000">
                <a:solidFill>
                  <a:srgbClr val="004010"/>
                </a:solidFill>
              </a:defRPr>
            </a:lvl1pPr>
          </a:lstStyle>
          <a:p>
            <a:fld id="{2EF8792E-B2E6-4819-94B5-00C0C516C3F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43" name="Rectangle 119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455613" y="365125"/>
            <a:ext cx="7697787" cy="5397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4010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" y="7162800"/>
            <a:ext cx="1219200" cy="199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9" r:id="rId4"/>
    <p:sldLayoutId id="2147483660" r:id="rId5"/>
    <p:sldLayoutId id="2147483661" r:id="rId6"/>
    <p:sldLayoutId id="2147483654" r:id="rId7"/>
    <p:sldLayoutId id="2147483655" r:id="rId8"/>
    <p:sldLayoutId id="2147483658" r:id="rId9"/>
    <p:sldLayoutId id="2147483662" r:id="rId10"/>
  </p:sldLayoutIdLst>
  <p:hf hdr="0" ftr="0" dt="0"/>
  <p:txStyles>
    <p:titleStyle>
      <a:lvl1pPr algn="l" defTabSz="1019175" rtl="0" eaLnBrk="1" fontAlgn="base" hangingPunct="1">
        <a:lnSpc>
          <a:spcPct val="95000"/>
        </a:lnSpc>
        <a:spcBef>
          <a:spcPct val="0"/>
        </a:spcBef>
        <a:spcAft>
          <a:spcPct val="0"/>
        </a:spcAft>
        <a:tabLst>
          <a:tab pos="8921750" algn="r"/>
        </a:tabLst>
        <a:defRPr lang="en-US" b="1" smtClean="0">
          <a:solidFill>
            <a:srgbClr val="004010"/>
          </a:solidFill>
          <a:latin typeface="+mj-lt"/>
          <a:ea typeface="+mj-ea"/>
          <a:cs typeface="+mj-cs"/>
        </a:defRPr>
      </a:lvl1pPr>
      <a:lvl2pPr algn="l" defTabSz="1019175" rtl="0" eaLnBrk="1" fontAlgn="base" hangingPunct="1">
        <a:lnSpc>
          <a:spcPct val="95000"/>
        </a:lnSpc>
        <a:spcBef>
          <a:spcPct val="0"/>
        </a:spcBef>
        <a:spcAft>
          <a:spcPct val="0"/>
        </a:spcAft>
        <a:tabLst>
          <a:tab pos="8921750" algn="r"/>
        </a:tabLst>
        <a:defRPr b="1">
          <a:solidFill>
            <a:schemeClr val="tx2"/>
          </a:solidFill>
          <a:latin typeface="Garamond" pitchFamily="18" charset="0"/>
        </a:defRPr>
      </a:lvl2pPr>
      <a:lvl3pPr algn="l" defTabSz="1019175" rtl="0" eaLnBrk="1" fontAlgn="base" hangingPunct="1">
        <a:lnSpc>
          <a:spcPct val="95000"/>
        </a:lnSpc>
        <a:spcBef>
          <a:spcPct val="0"/>
        </a:spcBef>
        <a:spcAft>
          <a:spcPct val="0"/>
        </a:spcAft>
        <a:tabLst>
          <a:tab pos="8921750" algn="r"/>
        </a:tabLst>
        <a:defRPr b="1">
          <a:solidFill>
            <a:schemeClr val="tx2"/>
          </a:solidFill>
          <a:latin typeface="Garamond" pitchFamily="18" charset="0"/>
        </a:defRPr>
      </a:lvl3pPr>
      <a:lvl4pPr algn="l" defTabSz="1019175" rtl="0" eaLnBrk="1" fontAlgn="base" hangingPunct="1">
        <a:lnSpc>
          <a:spcPct val="95000"/>
        </a:lnSpc>
        <a:spcBef>
          <a:spcPct val="0"/>
        </a:spcBef>
        <a:spcAft>
          <a:spcPct val="0"/>
        </a:spcAft>
        <a:tabLst>
          <a:tab pos="8921750" algn="r"/>
        </a:tabLst>
        <a:defRPr b="1">
          <a:solidFill>
            <a:schemeClr val="tx2"/>
          </a:solidFill>
          <a:latin typeface="Garamond" pitchFamily="18" charset="0"/>
        </a:defRPr>
      </a:lvl4pPr>
      <a:lvl5pPr algn="l" defTabSz="1019175" rtl="0" eaLnBrk="1" fontAlgn="base" hangingPunct="1">
        <a:lnSpc>
          <a:spcPct val="95000"/>
        </a:lnSpc>
        <a:spcBef>
          <a:spcPct val="0"/>
        </a:spcBef>
        <a:spcAft>
          <a:spcPct val="0"/>
        </a:spcAft>
        <a:tabLst>
          <a:tab pos="8921750" algn="r"/>
        </a:tabLst>
        <a:defRPr b="1">
          <a:solidFill>
            <a:schemeClr val="tx2"/>
          </a:solidFill>
          <a:latin typeface="Garamond" pitchFamily="18" charset="0"/>
        </a:defRPr>
      </a:lvl5pPr>
      <a:lvl6pPr marL="457200" algn="l" defTabSz="1019175" rtl="0" eaLnBrk="1" fontAlgn="base" hangingPunct="1">
        <a:lnSpc>
          <a:spcPct val="95000"/>
        </a:lnSpc>
        <a:spcBef>
          <a:spcPct val="0"/>
        </a:spcBef>
        <a:spcAft>
          <a:spcPct val="0"/>
        </a:spcAft>
        <a:tabLst>
          <a:tab pos="8921750" algn="r"/>
        </a:tabLst>
        <a:defRPr b="1">
          <a:solidFill>
            <a:schemeClr val="tx2"/>
          </a:solidFill>
          <a:latin typeface="Garamond" pitchFamily="18" charset="0"/>
        </a:defRPr>
      </a:lvl6pPr>
      <a:lvl7pPr marL="914400" algn="l" defTabSz="1019175" rtl="0" eaLnBrk="1" fontAlgn="base" hangingPunct="1">
        <a:lnSpc>
          <a:spcPct val="95000"/>
        </a:lnSpc>
        <a:spcBef>
          <a:spcPct val="0"/>
        </a:spcBef>
        <a:spcAft>
          <a:spcPct val="0"/>
        </a:spcAft>
        <a:tabLst>
          <a:tab pos="8921750" algn="r"/>
        </a:tabLst>
        <a:defRPr b="1">
          <a:solidFill>
            <a:schemeClr val="tx2"/>
          </a:solidFill>
          <a:latin typeface="Garamond" pitchFamily="18" charset="0"/>
        </a:defRPr>
      </a:lvl7pPr>
      <a:lvl8pPr marL="1371600" algn="l" defTabSz="1019175" rtl="0" eaLnBrk="1" fontAlgn="base" hangingPunct="1">
        <a:lnSpc>
          <a:spcPct val="95000"/>
        </a:lnSpc>
        <a:spcBef>
          <a:spcPct val="0"/>
        </a:spcBef>
        <a:spcAft>
          <a:spcPct val="0"/>
        </a:spcAft>
        <a:tabLst>
          <a:tab pos="8921750" algn="r"/>
        </a:tabLst>
        <a:defRPr b="1">
          <a:solidFill>
            <a:schemeClr val="tx2"/>
          </a:solidFill>
          <a:latin typeface="Garamond" pitchFamily="18" charset="0"/>
        </a:defRPr>
      </a:lvl8pPr>
      <a:lvl9pPr marL="1828800" algn="l" defTabSz="1019175" rtl="0" eaLnBrk="1" fontAlgn="base" hangingPunct="1">
        <a:lnSpc>
          <a:spcPct val="95000"/>
        </a:lnSpc>
        <a:spcBef>
          <a:spcPct val="0"/>
        </a:spcBef>
        <a:spcAft>
          <a:spcPct val="0"/>
        </a:spcAft>
        <a:tabLst>
          <a:tab pos="8921750" algn="r"/>
        </a:tabLst>
        <a:defRPr b="1">
          <a:solidFill>
            <a:schemeClr val="tx2"/>
          </a:solidFill>
          <a:latin typeface="Garamond" pitchFamily="18" charset="0"/>
        </a:defRPr>
      </a:lvl9pPr>
    </p:titleStyle>
    <p:bodyStyle>
      <a:lvl1pPr marL="287338" indent="-287338" algn="l" defTabSz="1019175" rtl="0" eaLnBrk="1" fontAlgn="base" hangingPunct="1">
        <a:lnSpc>
          <a:spcPct val="95000"/>
        </a:lnSpc>
        <a:spcBef>
          <a:spcPts val="0"/>
        </a:spcBef>
        <a:spcAft>
          <a:spcPts val="800"/>
        </a:spcAft>
        <a:buClr>
          <a:srgbClr val="004010"/>
        </a:buClr>
        <a:buSzPct val="75000"/>
        <a:buFont typeface="Wingdings" pitchFamily="2" charset="2"/>
        <a:buChar char="n"/>
        <a:defRPr lang="en-US" sz="1400" smtClean="0">
          <a:solidFill>
            <a:srgbClr val="004010"/>
          </a:solidFill>
          <a:latin typeface="+mn-lt"/>
          <a:ea typeface="+mn-ea"/>
          <a:cs typeface="+mn-cs"/>
        </a:defRPr>
      </a:lvl1pPr>
      <a:lvl2pPr marL="685800" indent="-280988" algn="l" defTabSz="1019175" rtl="0" eaLnBrk="1" fontAlgn="base" hangingPunct="1">
        <a:lnSpc>
          <a:spcPct val="95000"/>
        </a:lnSpc>
        <a:spcBef>
          <a:spcPts val="0"/>
        </a:spcBef>
        <a:spcAft>
          <a:spcPts val="800"/>
        </a:spcAft>
        <a:buClr>
          <a:srgbClr val="004010"/>
        </a:buClr>
        <a:buFont typeface="Garamond" pitchFamily="18" charset="0"/>
        <a:buChar char="–"/>
        <a:defRPr lang="en-US" sz="1400" smtClean="0">
          <a:solidFill>
            <a:srgbClr val="004010"/>
          </a:solidFill>
          <a:latin typeface="+mn-lt"/>
          <a:ea typeface="+mn-ea"/>
          <a:cs typeface="+mn-cs"/>
        </a:defRPr>
      </a:lvl2pPr>
      <a:lvl3pPr marL="1028700" indent="-228600" algn="l" defTabSz="1019175" rtl="0" eaLnBrk="1" fontAlgn="base" hangingPunct="1">
        <a:lnSpc>
          <a:spcPct val="95000"/>
        </a:lnSpc>
        <a:spcBef>
          <a:spcPts val="0"/>
        </a:spcBef>
        <a:spcAft>
          <a:spcPts val="800"/>
        </a:spcAft>
        <a:buClr>
          <a:srgbClr val="004010"/>
        </a:buClr>
        <a:buSzPct val="75000"/>
        <a:buFont typeface="Wingdings" charset="2"/>
        <a:buChar char="§"/>
        <a:defRPr lang="en-US" sz="1400" smtClean="0">
          <a:solidFill>
            <a:srgbClr val="004010"/>
          </a:solidFill>
          <a:latin typeface="+mn-lt"/>
          <a:ea typeface="+mn-ea"/>
          <a:cs typeface="+mn-cs"/>
        </a:defRPr>
      </a:lvl3pPr>
      <a:lvl4pPr marL="1371600" indent="-228600" algn="l" defTabSz="1019175" rtl="0" eaLnBrk="1" fontAlgn="base" hangingPunct="1">
        <a:lnSpc>
          <a:spcPct val="95000"/>
        </a:lnSpc>
        <a:spcBef>
          <a:spcPts val="0"/>
        </a:spcBef>
        <a:spcAft>
          <a:spcPts val="800"/>
        </a:spcAft>
        <a:buClr>
          <a:srgbClr val="004010"/>
        </a:buClr>
        <a:buFont typeface="Garamond" pitchFamily="18" charset="0"/>
        <a:buChar char="−"/>
        <a:defRPr lang="en-US" sz="1400" smtClean="0">
          <a:solidFill>
            <a:srgbClr val="004010"/>
          </a:solidFill>
          <a:latin typeface="+mn-lt"/>
          <a:ea typeface="+mn-ea"/>
          <a:cs typeface="+mn-cs"/>
        </a:defRPr>
      </a:lvl4pPr>
      <a:lvl5pPr marL="1657350" indent="-171450" algn="l" defTabSz="1019175" rtl="0" eaLnBrk="1" fontAlgn="base" hangingPunct="1">
        <a:lnSpc>
          <a:spcPct val="95000"/>
        </a:lnSpc>
        <a:spcBef>
          <a:spcPts val="0"/>
        </a:spcBef>
        <a:spcAft>
          <a:spcPts val="800"/>
        </a:spcAft>
        <a:buClr>
          <a:schemeClr val="bg2"/>
        </a:buClr>
        <a:buFont typeface="Wingdings" pitchFamily="2" charset="2"/>
        <a:buChar char="§"/>
        <a:defRPr lang="en-US" sz="1400" dirty="0" smtClean="0">
          <a:solidFill>
            <a:srgbClr val="004010"/>
          </a:solidFill>
          <a:latin typeface="+mn-lt"/>
          <a:ea typeface="+mn-ea"/>
          <a:cs typeface="+mn-cs"/>
        </a:defRPr>
      </a:lvl5pPr>
      <a:lvl6pPr marL="2114550" indent="-171450" algn="l" defTabSz="1019175" rtl="0" eaLnBrk="1" fontAlgn="base" hangingPunct="1">
        <a:lnSpc>
          <a:spcPct val="95000"/>
        </a:lnSpc>
        <a:spcBef>
          <a:spcPct val="5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571750" indent="-171450" algn="l" defTabSz="1019175" rtl="0" eaLnBrk="1" fontAlgn="base" hangingPunct="1">
        <a:lnSpc>
          <a:spcPct val="95000"/>
        </a:lnSpc>
        <a:spcBef>
          <a:spcPct val="5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028950" indent="-171450" algn="l" defTabSz="1019175" rtl="0" eaLnBrk="1" fontAlgn="base" hangingPunct="1">
        <a:lnSpc>
          <a:spcPct val="95000"/>
        </a:lnSpc>
        <a:spcBef>
          <a:spcPct val="5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486150" indent="-171450" algn="l" defTabSz="1019175" rtl="0" eaLnBrk="1" fontAlgn="base" hangingPunct="1">
        <a:lnSpc>
          <a:spcPct val="95000"/>
        </a:lnSpc>
        <a:spcBef>
          <a:spcPct val="5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7.xml"/><Relationship Id="rId7" Type="http://schemas.openxmlformats.org/officeDocument/2006/relationships/image" Target="../media/image4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tags" Target="../tags/tag21.xml"/><Relationship Id="rId7" Type="http://schemas.openxmlformats.org/officeDocument/2006/relationships/image" Target="../media/image6.emf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tags" Target="../tags/tag28.xml"/><Relationship Id="rId7" Type="http://schemas.openxmlformats.org/officeDocument/2006/relationships/image" Target="../media/image8.jpe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7" name="Rectangle 5"/>
          <p:cNvSpPr>
            <a:spLocks noGrp="1" noChangeArrowheads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684213" y="3927851"/>
            <a:ext cx="8226425" cy="26314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  <a:cs typeface="Copperplate Gothic Light"/>
              </a:rPr>
              <a:t>January 2023</a:t>
            </a:r>
          </a:p>
        </p:txBody>
      </p:sp>
      <p:sp>
        <p:nvSpPr>
          <p:cNvPr id="525319" name="Line 7"/>
          <p:cNvSpPr>
            <a:spLocks noChangeShapeType="1"/>
          </p:cNvSpPr>
          <p:nvPr>
            <p:custDataLst>
              <p:tags r:id="rId2"/>
            </p:custDataLst>
          </p:nvPr>
        </p:nvSpPr>
        <p:spPr bwMode="gray">
          <a:xfrm>
            <a:off x="684213" y="3827463"/>
            <a:ext cx="8410575" cy="0"/>
          </a:xfrm>
          <a:prstGeom prst="line">
            <a:avLst/>
          </a:prstGeom>
          <a:noFill/>
          <a:ln w="38100">
            <a:solidFill>
              <a:srgbClr val="00401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highlight>
                <a:srgbClr val="004010"/>
              </a:highlight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DFCBD1C-BA0B-9279-568A-86FA81AA4947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685800" y="3400657"/>
            <a:ext cx="8226425" cy="4093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175" indent="0" algn="l" defTabSz="101917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None/>
              <a:defRPr lang="en-US" sz="1800" b="1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kern="0" dirty="0">
                <a:solidFill>
                  <a:schemeClr val="tx1"/>
                </a:solidFill>
                <a:latin typeface="+mj-lt"/>
                <a:cs typeface="Copperplate Gothic Light"/>
              </a:rPr>
              <a:t>Introduction to Whinfell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3F2774-B1B7-02EB-E541-213E335BE3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958" y="6096000"/>
            <a:ext cx="3208323" cy="5262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C920175-6DD0-A849-BD2D-664B67126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441488"/>
            <a:ext cx="6324601" cy="2740111"/>
          </a:xfrm>
        </p:spPr>
        <p:txBody>
          <a:bodyPr numCol="1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u="sng" dirty="0">
                <a:solidFill>
                  <a:schemeClr val="tx1"/>
                </a:solidFill>
              </a:rPr>
              <a:t>Topic</a:t>
            </a:r>
          </a:p>
          <a:p>
            <a:pPr marL="398462" lvl="1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Situation Update &amp; Executive Summary</a:t>
            </a:r>
          </a:p>
          <a:p>
            <a:pPr marL="398462" lvl="1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Platform Overview</a:t>
            </a:r>
          </a:p>
          <a:p>
            <a:pPr marL="398462" lvl="1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Baja Project Investment Structuring </a:t>
            </a:r>
          </a:p>
          <a:p>
            <a:pPr marL="398462" lvl="1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Comparable Credits</a:t>
            </a:r>
          </a:p>
          <a:p>
            <a:pPr marL="398462" lvl="1" indent="0">
              <a:lnSpc>
                <a:spcPct val="150000"/>
              </a:lnSpc>
              <a:buNone/>
            </a:pPr>
            <a:endParaRPr lang="en-US" sz="1600" dirty="0"/>
          </a:p>
          <a:p>
            <a:pPr marL="398462" lvl="1" indent="0">
              <a:lnSpc>
                <a:spcPct val="150000"/>
              </a:lnSpc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F58DDF-5D25-1C47-8B39-13A274F67A53}"/>
              </a:ext>
            </a:extLst>
          </p:cNvPr>
          <p:cNvSpPr txBox="1">
            <a:spLocks/>
          </p:cNvSpPr>
          <p:nvPr/>
        </p:nvSpPr>
        <p:spPr bwMode="gray">
          <a:xfrm>
            <a:off x="6400800" y="2441489"/>
            <a:ext cx="2590800" cy="3352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b="1" u="sng" kern="0" dirty="0">
                <a:solidFill>
                  <a:schemeClr val="tx1"/>
                </a:solidFill>
                <a:latin typeface="Garamond" panose="02020404030301010803" pitchFamily="18" charset="0"/>
                <a:ea typeface="Open Sans" pitchFamily="2" charset="0"/>
                <a:cs typeface="Open Sans" pitchFamily="2" charset="0"/>
              </a:rPr>
              <a:t>Page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kern="0" dirty="0">
                <a:solidFill>
                  <a:schemeClr val="tx1"/>
                </a:solidFill>
                <a:latin typeface="Garamond" panose="02020404030301010803" pitchFamily="18" charset="0"/>
                <a:ea typeface="Open Sans" pitchFamily="2" charset="0"/>
                <a:cs typeface="Open Sans" pitchFamily="2" charset="0"/>
              </a:rPr>
              <a:t>2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kern="0" dirty="0">
                <a:solidFill>
                  <a:schemeClr val="tx1"/>
                </a:solidFill>
                <a:latin typeface="Garamond" panose="02020404030301010803" pitchFamily="18" charset="0"/>
                <a:ea typeface="Open Sans" pitchFamily="2" charset="0"/>
                <a:cs typeface="Open Sans" pitchFamily="2" charset="0"/>
              </a:rPr>
              <a:t>4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kern="0" dirty="0">
                <a:solidFill>
                  <a:schemeClr val="tx1"/>
                </a:solidFill>
                <a:latin typeface="Garamond" panose="02020404030301010803" pitchFamily="18" charset="0"/>
                <a:ea typeface="Open Sans" pitchFamily="2" charset="0"/>
                <a:cs typeface="Open Sans" pitchFamily="2" charset="0"/>
              </a:rPr>
              <a:t>[ ]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kern="0" dirty="0">
                <a:solidFill>
                  <a:schemeClr val="tx1"/>
                </a:solidFill>
                <a:latin typeface="Garamond" panose="02020404030301010803" pitchFamily="18" charset="0"/>
                <a:ea typeface="Open Sans" pitchFamily="2" charset="0"/>
                <a:cs typeface="Open Sans" pitchFamily="2" charset="0"/>
              </a:rPr>
              <a:t>[ ]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600" b="1" kern="0" dirty="0">
              <a:solidFill>
                <a:schemeClr val="tx1"/>
              </a:solidFill>
              <a:latin typeface="Garamond" panose="02020404030301010803" pitchFamily="18" charset="0"/>
              <a:ea typeface="Open Sans" pitchFamily="2" charset="0"/>
              <a:cs typeface="Open Sans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1600" b="1" kern="0" dirty="0">
              <a:solidFill>
                <a:schemeClr val="tx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kern="0" dirty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	</a:t>
            </a:r>
          </a:p>
          <a:p>
            <a:pPr marL="0" indent="0" algn="ctr">
              <a:lnSpc>
                <a:spcPct val="150000"/>
              </a:lnSpc>
              <a:buFont typeface="Wingdings" pitchFamily="2" charset="2"/>
              <a:buNone/>
            </a:pPr>
            <a:endParaRPr lang="en-US" sz="1600" kern="0" dirty="0">
              <a:solidFill>
                <a:schemeClr val="tx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ctr">
              <a:lnSpc>
                <a:spcPct val="150000"/>
              </a:lnSpc>
              <a:buFont typeface="Wingdings" pitchFamily="2" charset="2"/>
              <a:buNone/>
            </a:pPr>
            <a:endParaRPr lang="en-US" sz="1600" kern="0" dirty="0">
              <a:solidFill>
                <a:schemeClr val="tx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ctr">
              <a:lnSpc>
                <a:spcPct val="150000"/>
              </a:lnSpc>
              <a:buFont typeface="Wingdings" pitchFamily="2" charset="2"/>
              <a:buNone/>
            </a:pPr>
            <a:endParaRPr lang="en-US" sz="1600" kern="0" dirty="0">
              <a:solidFill>
                <a:schemeClr val="tx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ctr">
              <a:lnSpc>
                <a:spcPct val="150000"/>
              </a:lnSpc>
              <a:buFont typeface="Wingdings" pitchFamily="2" charset="2"/>
              <a:buNone/>
            </a:pPr>
            <a:endParaRPr lang="en-US" sz="1600" kern="0" dirty="0">
              <a:solidFill>
                <a:schemeClr val="tx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ctr">
              <a:lnSpc>
                <a:spcPct val="150000"/>
              </a:lnSpc>
              <a:buFont typeface="Wingdings" pitchFamily="2" charset="2"/>
              <a:buNone/>
            </a:pPr>
            <a:endParaRPr lang="en-US" sz="1600" kern="0" dirty="0">
              <a:solidFill>
                <a:schemeClr val="tx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ctr">
              <a:lnSpc>
                <a:spcPct val="150000"/>
              </a:lnSpc>
              <a:buFont typeface="Wingdings" pitchFamily="2" charset="2"/>
              <a:buNone/>
            </a:pPr>
            <a:endParaRPr lang="en-US" sz="1600" kern="0" dirty="0">
              <a:solidFill>
                <a:schemeClr val="tx1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_Section_Name">
            <a:extLst>
              <a:ext uri="{FF2B5EF4-FFF2-40B4-BE49-F238E27FC236}">
                <a16:creationId xmlns:a16="http://schemas.microsoft.com/office/drawing/2014/main" id="{D7109CCE-82BC-0911-5F09-C31368C2987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457200" y="547688"/>
            <a:ext cx="91408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/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74831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AAD805F0-2F61-DF42-A7E0-810AE3B35B6D}"/>
              </a:ext>
            </a:extLst>
          </p:cNvPr>
          <p:cNvSpPr txBox="1"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 bwMode="gray">
          <a:xfrm>
            <a:off x="649202" y="3546851"/>
            <a:ext cx="8226425" cy="350865"/>
          </a:xfrm>
          <a:prstGeom prst="rect">
            <a:avLst/>
          </a:prstGeom>
          <a:noFill/>
          <a:ln w="9525" algn="ctr">
            <a:noFill/>
            <a:prstDash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3175" indent="0" algn="l" defTabSz="101917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None/>
              <a:defRPr lang="en-US" sz="1800" b="1">
                <a:solidFill>
                  <a:srgbClr val="004010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403225" marR="0" lvl="0" indent="-400050" algn="l" defTabSz="1019175" rtl="0" eaLnBrk="1" fontAlgn="base" latinLnBrk="0" hangingPunct="1">
              <a:lnSpc>
                <a:spcPct val="95000"/>
              </a:lnSpc>
              <a:spcBef>
                <a:spcPct val="35000"/>
              </a:spcBef>
              <a:spcAft>
                <a:spcPts val="800"/>
              </a:spcAft>
              <a:buSzPct val="100000"/>
              <a:buFont typeface="+mj-lt"/>
              <a:buAutoNum type="romanUcPeriod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</a:rPr>
              <a:t>Situation Update &amp; Executive Summary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FB88FD-3675-37AC-918A-2AA0A23DA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162800"/>
            <a:ext cx="1219200" cy="1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76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2">
            <a:extLst>
              <a:ext uri="{FF2B5EF4-FFF2-40B4-BE49-F238E27FC236}">
                <a16:creationId xmlns:a16="http://schemas.microsoft.com/office/drawing/2014/main" id="{17FAD223-1FF9-4A9D-811A-F6FC0493E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1019175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–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Garamond" panose="02020404030301010803" pitchFamily="18" charset="0"/>
              <a:buChar char="●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−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B9CB2C-EEC0-4C4A-861D-AFF4073617BA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000" dirty="0"/>
          </a:p>
        </p:txBody>
      </p:sp>
      <p:sp>
        <p:nvSpPr>
          <p:cNvPr id="16386" name="Rectangle 5">
            <a:extLst>
              <a:ext uri="{FF2B5EF4-FFF2-40B4-BE49-F238E27FC236}">
                <a16:creationId xmlns:a16="http://schemas.microsoft.com/office/drawing/2014/main" id="{70F2270C-9E06-40B8-9060-423F769D3A0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455613" y="555642"/>
            <a:ext cx="9140825" cy="40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>
            <a:spAutoFit/>
          </a:bodyPr>
          <a:lstStyle>
            <a:lvl1pPr defTabSz="1019175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685800" indent="-280988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–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028700" indent="-22860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Garamond" panose="02020404030301010803" pitchFamily="18" charset="0"/>
              <a:buChar char="●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indent="-228600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−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1657350" indent="-17145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1145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5717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0289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4861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Situation Update &amp; 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57AC4-18FB-5B85-0201-05163ECA205D}"/>
              </a:ext>
            </a:extLst>
          </p:cNvPr>
          <p:cNvSpPr txBox="1">
            <a:spLocks/>
          </p:cNvSpPr>
          <p:nvPr/>
        </p:nvSpPr>
        <p:spPr>
          <a:xfrm>
            <a:off x="466725" y="1492799"/>
            <a:ext cx="9140825" cy="1394871"/>
          </a:xfrm>
          <a:prstGeom prst="rect">
            <a:avLst/>
          </a:prstGeom>
        </p:spPr>
        <p:txBody>
          <a:bodyPr/>
          <a:lstStyle>
            <a:lvl1pPr marL="287338" indent="-287338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Font typeface="Garamond" panose="02020404030301010803" pitchFamily="18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Garamond" panose="02020404030301010803" pitchFamily="18" charset="0"/>
              <a:buChar char="●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Font typeface="Garamond" panose="02020404030301010803" pitchFamily="18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[Discussions had to ACT to-date]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7D581C1-59D3-9403-06FB-DCF855BB6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230188"/>
            <a:ext cx="3252788" cy="23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19175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685800" indent="-280988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–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028700" indent="-22860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Garamond" panose="02020404030301010803" pitchFamily="18" charset="0"/>
              <a:buChar char="●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indent="-228600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−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1657350" indent="-17145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1145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5717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0289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4861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en-US" b="1" i="1" dirty="0">
                <a:solidFill>
                  <a:srgbClr val="C00000"/>
                </a:solidFill>
              </a:rPr>
              <a:t>C O N F I D E N T I A L   D R A F 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9DEE9-C0DD-D787-32CA-2F80E808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58850"/>
            <a:ext cx="9140825" cy="40164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Situation Update</a:t>
            </a:r>
          </a:p>
        </p:txBody>
      </p:sp>
    </p:spTree>
    <p:extLst>
      <p:ext uri="{BB962C8B-B14F-4D97-AF65-F5344CB8AC3E}">
        <p14:creationId xmlns:p14="http://schemas.microsoft.com/office/powerpoint/2010/main" val="261702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2">
            <a:extLst>
              <a:ext uri="{FF2B5EF4-FFF2-40B4-BE49-F238E27FC236}">
                <a16:creationId xmlns:a16="http://schemas.microsoft.com/office/drawing/2014/main" id="{17FAD223-1FF9-4A9D-811A-F6FC0493E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1019175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–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Garamond" panose="02020404030301010803" pitchFamily="18" charset="0"/>
              <a:buChar char="●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−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B9CB2C-EEC0-4C4A-861D-AFF4073617BA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000" dirty="0"/>
          </a:p>
        </p:txBody>
      </p:sp>
      <p:sp>
        <p:nvSpPr>
          <p:cNvPr id="16386" name="Rectangle 5">
            <a:extLst>
              <a:ext uri="{FF2B5EF4-FFF2-40B4-BE49-F238E27FC236}">
                <a16:creationId xmlns:a16="http://schemas.microsoft.com/office/drawing/2014/main" id="{70F2270C-9E06-40B8-9060-423F769D3A0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455613" y="555642"/>
            <a:ext cx="9140825" cy="40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>
            <a:spAutoFit/>
          </a:bodyPr>
          <a:lstStyle>
            <a:lvl1pPr defTabSz="1019175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685800" indent="-280988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–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028700" indent="-22860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Garamond" panose="02020404030301010803" pitchFamily="18" charset="0"/>
              <a:buChar char="●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indent="-228600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−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1657350" indent="-17145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1145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5717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0289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4861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10-Yr IRR at Cave Costs and Credit Sale Prices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41BD4B-7EEE-F524-C212-D6EB1A7C5F65}"/>
              </a:ext>
            </a:extLst>
          </p:cNvPr>
          <p:cNvSpPr txBox="1">
            <a:spLocks/>
          </p:cNvSpPr>
          <p:nvPr/>
        </p:nvSpPr>
        <p:spPr>
          <a:xfrm>
            <a:off x="466725" y="1223964"/>
            <a:ext cx="9140825" cy="1394871"/>
          </a:xfrm>
          <a:prstGeom prst="rect">
            <a:avLst/>
          </a:prstGeom>
        </p:spPr>
        <p:txBody>
          <a:bodyPr/>
          <a:lstStyle>
            <a:lvl1pPr marL="287338" indent="-287338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Font typeface="Garamond" panose="02020404030301010803" pitchFamily="18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Garamond" panose="02020404030301010803" pitchFamily="18" charset="0"/>
              <a:buChar char="●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Font typeface="Garamond" panose="02020404030301010803" pitchFamily="18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$20mm investment </a:t>
            </a:r>
          </a:p>
          <a:p>
            <a:pPr lvl="1"/>
            <a:r>
              <a:rPr lang="en-US" dirty="0"/>
              <a:t>Cave costs from $1,500 to $2,500</a:t>
            </a:r>
          </a:p>
          <a:p>
            <a:pPr lvl="1"/>
            <a:r>
              <a:rPr lang="en-US" dirty="0"/>
              <a:t>Credit prices from $100/</a:t>
            </a:r>
            <a:r>
              <a:rPr lang="en-US" dirty="0" err="1"/>
              <a:t>tonne</a:t>
            </a:r>
            <a:r>
              <a:rPr lang="en-US" dirty="0"/>
              <a:t> to $300/</a:t>
            </a:r>
            <a:r>
              <a:rPr lang="en-US" dirty="0" err="1"/>
              <a:t>tonne</a:t>
            </a:r>
            <a:endParaRPr lang="en-US" dirty="0"/>
          </a:p>
          <a:p>
            <a:pPr lvl="1"/>
            <a:r>
              <a:rPr lang="en-US" dirty="0"/>
              <a:t>90% of credits are sold to investor in exchange for investment of any size (does not contemplate economies of scale)</a:t>
            </a:r>
          </a:p>
          <a:p>
            <a:pPr lvl="1"/>
            <a:r>
              <a:rPr lang="en-US" dirty="0"/>
              <a:t>Production scales at 33% of target in the first year, 66% of target in the second year, and 100% of target thereafter</a:t>
            </a:r>
          </a:p>
          <a:p>
            <a:pPr lvl="1"/>
            <a:r>
              <a:rPr lang="en-US" dirty="0"/>
              <a:t>Assumes investment in year 1 and credit generation from year 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2D10D5-803D-2525-61F3-68F23325B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230188"/>
            <a:ext cx="3252788" cy="23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19175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685800" indent="-280988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–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028700" indent="-22860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Garamond" panose="02020404030301010803" pitchFamily="18" charset="0"/>
              <a:buChar char="●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indent="-228600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−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1657350" indent="-17145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1145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5717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0289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4861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en-US" b="1" i="1" dirty="0">
                <a:solidFill>
                  <a:srgbClr val="C00000"/>
                </a:solidFill>
              </a:rPr>
              <a:t>C O N F I D E N T I A L   D R A F T</a:t>
            </a:r>
          </a:p>
        </p:txBody>
      </p:sp>
    </p:spTree>
    <p:extLst>
      <p:ext uri="{BB962C8B-B14F-4D97-AF65-F5344CB8AC3E}">
        <p14:creationId xmlns:p14="http://schemas.microsoft.com/office/powerpoint/2010/main" val="1644346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BA6A-A03F-64A4-188B-5234064B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 ]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B22C3-7EB9-3F5D-EAEF-87AA1A6DB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Assumptions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$20mm investment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Cave costs from $1,500 to $2,500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Credit prices from $100/</a:t>
            </a:r>
            <a:r>
              <a:rPr lang="en-US" dirty="0" err="1">
                <a:solidFill>
                  <a:schemeClr val="tx1"/>
                </a:solidFill>
              </a:rPr>
              <a:t>tonne</a:t>
            </a:r>
            <a:r>
              <a:rPr lang="en-US" dirty="0">
                <a:solidFill>
                  <a:schemeClr val="tx1"/>
                </a:solidFill>
              </a:rPr>
              <a:t> to $300/</a:t>
            </a:r>
            <a:r>
              <a:rPr lang="en-US" dirty="0" err="1">
                <a:solidFill>
                  <a:schemeClr val="tx1"/>
                </a:solidFill>
              </a:rPr>
              <a:t>tonne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90% of credits are sold to investor in exchange for investment of any size (does not contemplate economies of scale)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Production scales at 33% of target in the first year, 66% of target in the second year, and 100% of target thereafter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Assumes investment in year 1 and credit generation from year 2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DBD18-6BBA-CB4F-7336-26CFD3CA54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9BAFE-4C6B-48BC-8DD1-BCC4A60E18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B9108B-8EC1-E89D-4D9C-CF0982015BF3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455613" y="555642"/>
            <a:ext cx="9140825" cy="40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>
            <a:spAutoFit/>
          </a:bodyPr>
          <a:lstStyle>
            <a:lvl1pPr defTabSz="1019175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685800" indent="-280988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–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028700" indent="-22860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Garamond" panose="02020404030301010803" pitchFamily="18" charset="0"/>
              <a:buChar char="●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indent="-228600" defTabSz="1019175">
              <a:lnSpc>
                <a:spcPct val="95000"/>
              </a:lnSpc>
              <a:spcBef>
                <a:spcPct val="50000"/>
              </a:spcBef>
              <a:buClr>
                <a:schemeClr val="tx1"/>
              </a:buClr>
              <a:buFont typeface="Garamond" panose="02020404030301010803" pitchFamily="18" charset="0"/>
              <a:buChar char="−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1657350" indent="-171450" defTabSz="1019175">
              <a:lnSpc>
                <a:spcPct val="95000"/>
              </a:lnSpc>
              <a:spcBef>
                <a:spcPct val="5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1145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5717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0289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486150" indent="-171450" defTabSz="1019175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8921750" algn="r"/>
              </a:tabLst>
              <a:defRPr sz="1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Project Structuring Discussion Materials</a:t>
            </a:r>
          </a:p>
        </p:txBody>
      </p:sp>
    </p:spTree>
    <p:extLst>
      <p:ext uri="{BB962C8B-B14F-4D97-AF65-F5344CB8AC3E}">
        <p14:creationId xmlns:p14="http://schemas.microsoft.com/office/powerpoint/2010/main" val="294975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A6264D-66C9-404F-B44C-4E20B8375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71600"/>
            <a:ext cx="9140825" cy="457200"/>
          </a:xfrm>
          <a:solidFill>
            <a:srgbClr val="B6B6B6"/>
          </a:solidFill>
        </p:spPr>
        <p:txBody>
          <a:bodyPr anchor="ctr" anchorCtr="1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Whinfell’s professionals have executed a wide variety of global projects and have deep sector expertise.  </a:t>
            </a:r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4732338" y="7167724"/>
            <a:ext cx="593725" cy="147476"/>
          </a:xfrm>
          <a:noFill/>
        </p:spPr>
        <p:txBody>
          <a:bodyPr/>
          <a:lstStyle>
            <a:lvl1pPr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C0762617-0C67-475A-A748-6E85CA3A9A01}" type="slidenum">
              <a:rPr lang="en-US" sz="1000"/>
              <a:pPr eaLnBrk="1" hangingPunct="1"/>
              <a:t>6</a:t>
            </a:fld>
            <a:endParaRPr lang="en-US" sz="1000" dirty="0"/>
          </a:p>
        </p:txBody>
      </p:sp>
      <p:sp>
        <p:nvSpPr>
          <p:cNvPr id="13" name="_Section_Name">
            <a:extLst>
              <a:ext uri="{FF2B5EF4-FFF2-40B4-BE49-F238E27FC236}">
                <a16:creationId xmlns:a16="http://schemas.microsoft.com/office/drawing/2014/main" id="{27AADBE7-98D4-DA49-8C7C-F74B80411EB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57200" y="547688"/>
            <a:ext cx="91408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/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/>
              <a:t>Team Introduction &amp; Executive Summary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FD61B04E-9E53-4940-A095-90BF8E409625}"/>
              </a:ext>
            </a:extLst>
          </p:cNvPr>
          <p:cNvSpPr txBox="1">
            <a:spLocks/>
          </p:cNvSpPr>
          <p:nvPr/>
        </p:nvSpPr>
        <p:spPr bwMode="gray">
          <a:xfrm>
            <a:off x="457200" y="1752600"/>
            <a:ext cx="9140825" cy="48882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300" b="1" kern="0" dirty="0">
                <a:solidFill>
                  <a:schemeClr val="tx1"/>
                </a:solidFill>
              </a:rPr>
              <a:t>Independence with institutional focus</a:t>
            </a:r>
          </a:p>
          <a:p>
            <a:pPr lvl="1"/>
            <a:r>
              <a:rPr lang="en-US" sz="1300" kern="0" dirty="0">
                <a:solidFill>
                  <a:schemeClr val="tx1"/>
                </a:solidFill>
              </a:rPr>
              <a:t>“Client first approach” </a:t>
            </a:r>
          </a:p>
          <a:p>
            <a:pPr lvl="1"/>
            <a:r>
              <a:rPr lang="en-US" sz="1300" kern="0" dirty="0">
                <a:solidFill>
                  <a:schemeClr val="tx1"/>
                </a:solidFill>
              </a:rPr>
              <a:t>No conflicts arising from lending, investing, or underwriting activities</a:t>
            </a:r>
          </a:p>
          <a:p>
            <a:r>
              <a:rPr lang="en-US" sz="1300" b="1" kern="0" dirty="0">
                <a:solidFill>
                  <a:schemeClr val="tx1"/>
                </a:solidFill>
              </a:rPr>
              <a:t>Full time and senior-level engagement team with buy-side mindset</a:t>
            </a:r>
          </a:p>
          <a:p>
            <a:pPr lvl="1"/>
            <a:r>
              <a:rPr lang="en-US" sz="1300" kern="0" dirty="0">
                <a:solidFill>
                  <a:schemeClr val="tx1"/>
                </a:solidFill>
              </a:rPr>
              <a:t>Delivery team average age of ~50</a:t>
            </a:r>
          </a:p>
          <a:p>
            <a:pPr lvl="1"/>
            <a:r>
              <a:rPr lang="en-US" sz="1300" kern="0" dirty="0">
                <a:solidFill>
                  <a:schemeClr val="tx1"/>
                </a:solidFill>
              </a:rPr>
              <a:t>Ability to complement culture and pace of early-stage entrepreneurial projects to established corporates</a:t>
            </a:r>
          </a:p>
          <a:p>
            <a:r>
              <a:rPr lang="en-US" sz="1300" b="1" kern="0" dirty="0">
                <a:solidFill>
                  <a:schemeClr val="tx1"/>
                </a:solidFill>
              </a:rPr>
              <a:t>Methodical and disciplined approach</a:t>
            </a:r>
          </a:p>
          <a:p>
            <a:pPr lvl="1"/>
            <a:r>
              <a:rPr lang="en-US" sz="1300" kern="0" dirty="0">
                <a:solidFill>
                  <a:schemeClr val="tx1"/>
                </a:solidFill>
              </a:rPr>
              <a:t>Execution methodology developed through rigorous world class institutional training and experience: Allstate, AXA, Evercore, Jefferies, IBM, Lazard, MetLife, and JP Morgan</a:t>
            </a:r>
          </a:p>
          <a:p>
            <a:pPr lvl="1"/>
            <a:r>
              <a:rPr lang="en-US" sz="1300" kern="0" dirty="0">
                <a:solidFill>
                  <a:schemeClr val="tx1"/>
                </a:solidFill>
              </a:rPr>
              <a:t>Master degrees from leading universities:  Erasmus, Kellogg (Northwestern), Vanderbilt, NYU, and University of Texas</a:t>
            </a:r>
          </a:p>
          <a:p>
            <a:r>
              <a:rPr lang="en-US" sz="1300" b="1" kern="0" dirty="0">
                <a:solidFill>
                  <a:schemeClr val="tx1"/>
                </a:solidFill>
              </a:rPr>
              <a:t>Multi-product and cross-functional capabilities </a:t>
            </a:r>
          </a:p>
          <a:p>
            <a:pPr lvl="1"/>
            <a:r>
              <a:rPr lang="en-US" sz="1300" i="1" kern="0" dirty="0">
                <a:solidFill>
                  <a:schemeClr val="tx1"/>
                </a:solidFill>
              </a:rPr>
              <a:t>Financial</a:t>
            </a:r>
            <a:r>
              <a:rPr lang="en-US" sz="1300" kern="0" dirty="0">
                <a:solidFill>
                  <a:schemeClr val="tx1"/>
                </a:solidFill>
              </a:rPr>
              <a:t>:  Straight/convertible debt, municipals, straight/structured equity, tax equity, joint-ventures, and sustainability-linked</a:t>
            </a:r>
          </a:p>
          <a:p>
            <a:pPr lvl="1"/>
            <a:r>
              <a:rPr lang="en-US" sz="1300" i="1" kern="0" dirty="0">
                <a:solidFill>
                  <a:schemeClr val="tx1"/>
                </a:solidFill>
              </a:rPr>
              <a:t>Asset /Risk Management &amp; Hedging</a:t>
            </a:r>
            <a:r>
              <a:rPr lang="en-US" sz="1300" kern="0" dirty="0">
                <a:solidFill>
                  <a:schemeClr val="tx1"/>
                </a:solidFill>
              </a:rPr>
              <a:t>:  Bespoke hedge design, portfolio management, and sophisticated derivatives trading expertise</a:t>
            </a:r>
          </a:p>
          <a:p>
            <a:pPr lvl="1"/>
            <a:r>
              <a:rPr lang="en-US" sz="1300" i="1" kern="0" dirty="0">
                <a:solidFill>
                  <a:schemeClr val="tx1"/>
                </a:solidFill>
              </a:rPr>
              <a:t>Sustainability</a:t>
            </a:r>
            <a:r>
              <a:rPr lang="en-US" sz="1300" kern="0" dirty="0">
                <a:solidFill>
                  <a:schemeClr val="tx1"/>
                </a:solidFill>
              </a:rPr>
              <a:t>:  Sustainability framework design and implementation of Sustainability Accounting Standards</a:t>
            </a:r>
          </a:p>
          <a:p>
            <a:pPr lvl="1"/>
            <a:r>
              <a:rPr lang="en-US" sz="1300" i="1" kern="0" dirty="0">
                <a:solidFill>
                  <a:schemeClr val="tx1"/>
                </a:solidFill>
              </a:rPr>
              <a:t>Data Science</a:t>
            </a:r>
            <a:r>
              <a:rPr lang="en-US" sz="1300" kern="0" dirty="0">
                <a:solidFill>
                  <a:schemeClr val="tx1"/>
                </a:solidFill>
              </a:rPr>
              <a:t>:  Statistical method-based design of enterprise data gathering, structuring, interpretation, and reporting</a:t>
            </a:r>
            <a:endParaRPr lang="en-US" sz="1300" i="1" kern="0" dirty="0">
              <a:solidFill>
                <a:schemeClr val="tx1"/>
              </a:solidFill>
            </a:endParaRPr>
          </a:p>
          <a:p>
            <a:pPr lvl="1"/>
            <a:r>
              <a:rPr lang="en-US" sz="1300" i="1" kern="0" dirty="0">
                <a:solidFill>
                  <a:schemeClr val="tx1"/>
                </a:solidFill>
              </a:rPr>
              <a:t>Operations</a:t>
            </a:r>
            <a:r>
              <a:rPr lang="en-US" sz="1300" kern="0" dirty="0">
                <a:solidFill>
                  <a:schemeClr val="tx1"/>
                </a:solidFill>
              </a:rPr>
              <a:t>:  Industrial facility operational template design, supply chain optimization, and organizational design</a:t>
            </a:r>
          </a:p>
          <a:p>
            <a:r>
              <a:rPr lang="en-US" sz="1300" b="1" kern="0" dirty="0">
                <a:solidFill>
                  <a:schemeClr val="tx1"/>
                </a:solidFill>
              </a:rPr>
              <a:t>Active global network</a:t>
            </a:r>
          </a:p>
          <a:p>
            <a:pPr lvl="1"/>
            <a:r>
              <a:rPr lang="en-US" sz="1300" kern="0" dirty="0">
                <a:solidFill>
                  <a:schemeClr val="tx1"/>
                </a:solidFill>
              </a:rPr>
              <a:t>Strong and current working relationships with European, Asian, and Latin American investment groups through overseas postings in the China, Germany, Hong Kong, , UK, Singapore, and Taiwan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BBF212E-194F-FD03-18A1-44CDD54CD2C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57200" y="969952"/>
            <a:ext cx="9140825" cy="40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91440">
            <a:spAutoFit/>
          </a:bodyPr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>
                <a:ea typeface="Open Sans" pitchFamily="2" charset="0"/>
                <a:cs typeface="Open Sans" pitchFamily="2" charset="0"/>
              </a:rPr>
              <a:t>Key Differentiators</a:t>
            </a:r>
          </a:p>
        </p:txBody>
      </p:sp>
    </p:spTree>
    <p:extLst>
      <p:ext uri="{BB962C8B-B14F-4D97-AF65-F5344CB8AC3E}">
        <p14:creationId xmlns:p14="http://schemas.microsoft.com/office/powerpoint/2010/main" val="233241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4732338" y="7167724"/>
            <a:ext cx="593725" cy="147476"/>
          </a:xfrm>
          <a:noFill/>
        </p:spPr>
        <p:txBody>
          <a:bodyPr/>
          <a:lstStyle>
            <a:lvl1pPr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C0762617-0C67-475A-A748-6E85CA3A9A01}" type="slidenum">
              <a:rPr lang="en-US" sz="1000"/>
              <a:pPr eaLnBrk="1" hangingPunct="1"/>
              <a:t>7</a:t>
            </a:fld>
            <a:endParaRPr lang="en-US" sz="1000" dirty="0"/>
          </a:p>
        </p:txBody>
      </p:sp>
      <p:sp>
        <p:nvSpPr>
          <p:cNvPr id="13" name="_Section_Name">
            <a:extLst>
              <a:ext uri="{FF2B5EF4-FFF2-40B4-BE49-F238E27FC236}">
                <a16:creationId xmlns:a16="http://schemas.microsoft.com/office/drawing/2014/main" id="{27AADBE7-98D4-DA49-8C7C-F74B80411EB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57200" y="547688"/>
            <a:ext cx="91408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/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/>
              <a:t>Team Introduction &amp; Executive Summary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BBF212E-194F-FD03-18A1-44CDD54CD2C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55613" y="969952"/>
            <a:ext cx="9140825" cy="40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91440">
            <a:spAutoFit/>
          </a:bodyPr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>
                <a:ea typeface="Open Sans" pitchFamily="2" charset="0"/>
                <a:cs typeface="Open Sans" pitchFamily="2" charset="0"/>
              </a:rPr>
              <a:t>Environmental Offset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9D2B8-BAF8-E391-2956-8384D62A4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71600"/>
            <a:ext cx="9140825" cy="609600"/>
          </a:xfrm>
          <a:solidFill>
            <a:srgbClr val="B6B6B6"/>
          </a:solidFill>
        </p:spPr>
        <p:txBody>
          <a:bodyPr anchor="ctr" anchorCtr="1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Whinfell works across the environmental offset value chain to provide bespoke solutions for its clients.  </a:t>
            </a:r>
            <a:br>
              <a:rPr lang="en-US" sz="1300" b="1" dirty="0">
                <a:solidFill>
                  <a:schemeClr val="tx1"/>
                </a:solidFill>
              </a:rPr>
            </a:br>
            <a:r>
              <a:rPr lang="en-US" sz="1300" b="1" dirty="0">
                <a:solidFill>
                  <a:schemeClr val="tx1"/>
                </a:solidFill>
              </a:rPr>
              <a:t>We are vertically integrated with primary focus on asset management and corporate/project finance.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EBC0818-89C9-EEAC-FD04-B263E46B124B}"/>
              </a:ext>
            </a:extLst>
          </p:cNvPr>
          <p:cNvSpPr txBox="1">
            <a:spLocks/>
          </p:cNvSpPr>
          <p:nvPr/>
        </p:nvSpPr>
        <p:spPr bwMode="gray">
          <a:xfrm>
            <a:off x="2290762" y="3072459"/>
            <a:ext cx="7158038" cy="11947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Project and corporate financial advisory</a:t>
            </a: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Carbon sequestration and storage methodology compliance </a:t>
            </a: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Voluntary carbon credit structuring and issuance </a:t>
            </a: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Outsourced corporate development, risk management, and liquidity management</a:t>
            </a: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59335CF-BA36-73B5-BCE2-C45754B8C9E5}"/>
              </a:ext>
            </a:extLst>
          </p:cNvPr>
          <p:cNvSpPr txBox="1">
            <a:spLocks/>
          </p:cNvSpPr>
          <p:nvPr/>
        </p:nvSpPr>
        <p:spPr bwMode="gray">
          <a:xfrm>
            <a:off x="2294313" y="4419600"/>
            <a:ext cx="7158038" cy="1296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Mandatory convertible debt/equity</a:t>
            </a:r>
          </a:p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Debt/equity  + voluntary carbon credit options/SDG offset options</a:t>
            </a:r>
          </a:p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Project-specific structures:  pre-construction, growth, steady-state, hybrid</a:t>
            </a:r>
          </a:p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endParaRPr lang="en-US" sz="1200" kern="0" dirty="0">
              <a:solidFill>
                <a:schemeClr val="tx1"/>
              </a:solidFill>
            </a:endParaRPr>
          </a:p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819EF5-7F72-03A0-45F0-13BE82F23B7B}"/>
              </a:ext>
            </a:extLst>
          </p:cNvPr>
          <p:cNvSpPr/>
          <p:nvPr/>
        </p:nvSpPr>
        <p:spPr bwMode="auto">
          <a:xfrm>
            <a:off x="455612" y="3124200"/>
            <a:ext cx="1746081" cy="1140895"/>
          </a:xfrm>
          <a:prstGeom prst="rect">
            <a:avLst/>
          </a:prstGeom>
          <a:solidFill>
            <a:srgbClr val="00401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1" cap="small" dirty="0">
                <a:solidFill>
                  <a:schemeClr val="accent1"/>
                </a:solidFill>
              </a:rPr>
              <a:t>Corporate &amp; </a:t>
            </a:r>
            <a:br>
              <a:rPr lang="en-US" sz="1200" b="1" cap="small" dirty="0">
                <a:solidFill>
                  <a:schemeClr val="accent1"/>
                </a:solidFill>
              </a:rPr>
            </a:br>
            <a:r>
              <a:rPr lang="en-US" sz="1200" b="1" cap="small" dirty="0">
                <a:solidFill>
                  <a:schemeClr val="accent1"/>
                </a:solidFill>
              </a:rPr>
              <a:t>Project Financial </a:t>
            </a:r>
            <a:b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</a:br>
            <a: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  <a:t>Advisory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7E1B6C-7645-6284-3548-2187719B0CEA}"/>
              </a:ext>
            </a:extLst>
          </p:cNvPr>
          <p:cNvSpPr/>
          <p:nvPr/>
        </p:nvSpPr>
        <p:spPr bwMode="auto">
          <a:xfrm>
            <a:off x="463718" y="4469459"/>
            <a:ext cx="1746081" cy="1140895"/>
          </a:xfrm>
          <a:prstGeom prst="rect">
            <a:avLst/>
          </a:prstGeom>
          <a:solidFill>
            <a:srgbClr val="00401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  <a:t>Offset -</a:t>
            </a:r>
            <a:b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</a:br>
            <a: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  <a:t>Linked Debt &amp; </a:t>
            </a:r>
            <a:b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</a:br>
            <a: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  <a:t>Equity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9A85F9-3593-8B52-33D1-A4EAFD31E63E}"/>
              </a:ext>
            </a:extLst>
          </p:cNvPr>
          <p:cNvSpPr/>
          <p:nvPr/>
        </p:nvSpPr>
        <p:spPr bwMode="auto">
          <a:xfrm>
            <a:off x="463717" y="2095031"/>
            <a:ext cx="9140825" cy="338328"/>
          </a:xfrm>
          <a:prstGeom prst="rect">
            <a:avLst/>
          </a:prstGeom>
          <a:gradFill>
            <a:gsLst>
              <a:gs pos="9000">
                <a:srgbClr val="004010">
                  <a:lumMod val="99258"/>
                  <a:alpha val="25000"/>
                </a:srgbClr>
              </a:gs>
              <a:gs pos="26000">
                <a:srgbClr val="004816">
                  <a:alpha val="50000"/>
                </a:srgbClr>
              </a:gs>
              <a:gs pos="46000">
                <a:srgbClr val="004010">
                  <a:alpha val="74972"/>
                </a:srgbClr>
              </a:gs>
              <a:gs pos="66000">
                <a:srgbClr val="004010">
                  <a:alpha val="89704"/>
                </a:srgbClr>
              </a:gs>
              <a:gs pos="87000">
                <a:srgbClr val="004010"/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latin typeface="Garamond" pitchFamily="18" charset="0"/>
              </a:rPr>
              <a:t>Environmental Offset Landscape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2179172-7528-3D2A-8672-882E668F4AE5}"/>
              </a:ext>
            </a:extLst>
          </p:cNvPr>
          <p:cNvSpPr txBox="1">
            <a:spLocks/>
          </p:cNvSpPr>
          <p:nvPr/>
        </p:nvSpPr>
        <p:spPr bwMode="gray">
          <a:xfrm>
            <a:off x="457200" y="2382848"/>
            <a:ext cx="1524000" cy="3685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kern="0" cap="small" dirty="0">
                <a:solidFill>
                  <a:schemeClr val="tx1"/>
                </a:solidFill>
              </a:rPr>
              <a:t>Project </a:t>
            </a:r>
            <a:br>
              <a:rPr lang="en-US" sz="1200" b="1" kern="0" cap="small" dirty="0">
                <a:solidFill>
                  <a:schemeClr val="tx1"/>
                </a:solidFill>
              </a:rPr>
            </a:br>
            <a:r>
              <a:rPr lang="en-US" sz="1200" b="1" kern="0" cap="small" dirty="0">
                <a:solidFill>
                  <a:schemeClr val="tx1"/>
                </a:solidFill>
              </a:rPr>
              <a:t>Sponsors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E922671-D78C-6A6A-1B9B-D83CC1BA8D94}"/>
              </a:ext>
            </a:extLst>
          </p:cNvPr>
          <p:cNvSpPr txBox="1">
            <a:spLocks/>
          </p:cNvSpPr>
          <p:nvPr/>
        </p:nvSpPr>
        <p:spPr bwMode="gray">
          <a:xfrm>
            <a:off x="2362200" y="2382848"/>
            <a:ext cx="1524000" cy="3685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kern="0" cap="small" dirty="0">
                <a:solidFill>
                  <a:schemeClr val="tx1"/>
                </a:solidFill>
              </a:rPr>
              <a:t>Corporate </a:t>
            </a:r>
            <a:br>
              <a:rPr lang="en-US" sz="1200" b="1" kern="0" cap="small" dirty="0">
                <a:solidFill>
                  <a:schemeClr val="tx1"/>
                </a:solidFill>
              </a:rPr>
            </a:br>
            <a:r>
              <a:rPr lang="en-US" sz="1200" b="1" kern="0" cap="small" dirty="0">
                <a:solidFill>
                  <a:schemeClr val="tx1"/>
                </a:solidFill>
              </a:rPr>
              <a:t>Issuers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FAEB20-FE1B-F428-7AFA-A308C3AFC5DA}"/>
              </a:ext>
            </a:extLst>
          </p:cNvPr>
          <p:cNvSpPr txBox="1">
            <a:spLocks/>
          </p:cNvSpPr>
          <p:nvPr/>
        </p:nvSpPr>
        <p:spPr bwMode="gray">
          <a:xfrm>
            <a:off x="8077200" y="2382848"/>
            <a:ext cx="1527048" cy="3685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kern="0" cap="small" dirty="0">
                <a:solidFill>
                  <a:schemeClr val="tx1"/>
                </a:solidFill>
              </a:rPr>
              <a:t>Corporate</a:t>
            </a:r>
            <a:br>
              <a:rPr lang="en-US" sz="1200" b="1" kern="0" cap="small" dirty="0">
                <a:solidFill>
                  <a:schemeClr val="tx1"/>
                </a:solidFill>
              </a:rPr>
            </a:br>
            <a:r>
              <a:rPr lang="en-US" sz="1200" b="1" kern="0" cap="small" dirty="0">
                <a:solidFill>
                  <a:schemeClr val="tx1"/>
                </a:solidFill>
              </a:rPr>
              <a:t>Buyers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421956A-792D-EB33-B954-FE2F65837BE1}"/>
              </a:ext>
            </a:extLst>
          </p:cNvPr>
          <p:cNvSpPr txBox="1">
            <a:spLocks/>
          </p:cNvSpPr>
          <p:nvPr/>
        </p:nvSpPr>
        <p:spPr bwMode="gray">
          <a:xfrm>
            <a:off x="6172200" y="2382848"/>
            <a:ext cx="1524000" cy="3685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kern="0" cap="small" dirty="0">
                <a:solidFill>
                  <a:schemeClr val="tx1"/>
                </a:solidFill>
              </a:rPr>
              <a:t>Asset</a:t>
            </a:r>
            <a:br>
              <a:rPr lang="en-US" sz="1200" b="1" kern="0" cap="small" dirty="0">
                <a:solidFill>
                  <a:schemeClr val="tx1"/>
                </a:solidFill>
              </a:rPr>
            </a:br>
            <a:r>
              <a:rPr lang="en-US" sz="1200" b="1" kern="0" cap="small" dirty="0">
                <a:solidFill>
                  <a:schemeClr val="tx1"/>
                </a:solidFill>
              </a:rPr>
              <a:t>Managers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E76829A-71B0-1107-454B-C38C6E08FB27}"/>
              </a:ext>
            </a:extLst>
          </p:cNvPr>
          <p:cNvSpPr txBox="1">
            <a:spLocks/>
          </p:cNvSpPr>
          <p:nvPr/>
        </p:nvSpPr>
        <p:spPr bwMode="gray">
          <a:xfrm>
            <a:off x="4267200" y="2382848"/>
            <a:ext cx="1524000" cy="3685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kern="0" cap="small" dirty="0">
                <a:solidFill>
                  <a:schemeClr val="tx1"/>
                </a:solidFill>
              </a:rPr>
              <a:t>Market</a:t>
            </a:r>
            <a:br>
              <a:rPr lang="en-US" sz="1200" b="1" kern="0" cap="small" dirty="0">
                <a:solidFill>
                  <a:schemeClr val="tx1"/>
                </a:solidFill>
              </a:rPr>
            </a:br>
            <a:r>
              <a:rPr lang="en-US" sz="1200" b="1" kern="0" cap="small" dirty="0">
                <a:solidFill>
                  <a:schemeClr val="tx1"/>
                </a:solidFill>
              </a:rPr>
              <a:t>Makers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7A8F54-9C86-3127-C806-5BA9E7EA5265}"/>
              </a:ext>
            </a:extLst>
          </p:cNvPr>
          <p:cNvSpPr/>
          <p:nvPr/>
        </p:nvSpPr>
        <p:spPr bwMode="auto">
          <a:xfrm>
            <a:off x="455612" y="5813537"/>
            <a:ext cx="1746081" cy="1140895"/>
          </a:xfrm>
          <a:prstGeom prst="rect">
            <a:avLst/>
          </a:prstGeom>
          <a:solidFill>
            <a:srgbClr val="00401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  <a:t>Index </a:t>
            </a:r>
            <a:b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</a:br>
            <a: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  <a:t>Funds &amp; </a:t>
            </a:r>
            <a:b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</a:br>
            <a:r>
              <a:rPr kumimoji="0" lang="en-US" sz="1200" b="1" i="0" u="none" strike="noStrike" cap="small" normalizeH="0" dirty="0">
                <a:ln>
                  <a:noFill/>
                </a:ln>
                <a:solidFill>
                  <a:schemeClr val="accent1"/>
                </a:solidFill>
                <a:effectLst/>
                <a:latin typeface="Garamond" pitchFamily="18" charset="0"/>
              </a:rPr>
              <a:t>SMAs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9325D54-6617-FAEC-154B-2A3FAA37FFB8}"/>
              </a:ext>
            </a:extLst>
          </p:cNvPr>
          <p:cNvSpPr txBox="1">
            <a:spLocks/>
          </p:cNvSpPr>
          <p:nvPr/>
        </p:nvSpPr>
        <p:spPr bwMode="gray">
          <a:xfrm>
            <a:off x="2290762" y="5638800"/>
            <a:ext cx="7158038" cy="1296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Long-only</a:t>
            </a:r>
          </a:p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Tailored strategies:  vintage spread, volatility-constrained, geographic spread, sector spread, vintage spread</a:t>
            </a:r>
          </a:p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Portfolio decarbonization </a:t>
            </a:r>
          </a:p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Global research </a:t>
            </a:r>
          </a:p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endParaRPr lang="en-US" sz="1200" kern="0" dirty="0">
              <a:solidFill>
                <a:schemeClr val="tx1"/>
              </a:solidFill>
            </a:endParaRPr>
          </a:p>
          <a:p>
            <a:pPr marL="173038" indent="-173038">
              <a:lnSpc>
                <a:spcPct val="150000"/>
              </a:lnSpc>
              <a:spcAft>
                <a:spcPts val="4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734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4732338" y="7167724"/>
            <a:ext cx="593725" cy="147476"/>
          </a:xfrm>
          <a:noFill/>
        </p:spPr>
        <p:txBody>
          <a:bodyPr/>
          <a:lstStyle>
            <a:lvl1pPr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C0762617-0C67-475A-A748-6E85CA3A9A01}" type="slidenum">
              <a:rPr lang="en-US" sz="1000"/>
              <a:pPr eaLnBrk="1" hangingPunct="1"/>
              <a:t>8</a:t>
            </a:fld>
            <a:endParaRPr lang="en-US" sz="1000" dirty="0"/>
          </a:p>
        </p:txBody>
      </p:sp>
      <p:sp>
        <p:nvSpPr>
          <p:cNvPr id="13" name="_Section_Name">
            <a:extLst>
              <a:ext uri="{FF2B5EF4-FFF2-40B4-BE49-F238E27FC236}">
                <a16:creationId xmlns:a16="http://schemas.microsoft.com/office/drawing/2014/main" id="{27AADBE7-98D4-DA49-8C7C-F74B80411EB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57200" y="547688"/>
            <a:ext cx="91408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/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/>
              <a:t>Team Introduction &amp; Executive Summary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BBF212E-194F-FD03-18A1-44CDD54CD2C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55613" y="969952"/>
            <a:ext cx="9140825" cy="40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91440">
            <a:spAutoFit/>
          </a:bodyPr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>
                <a:ea typeface="Open Sans" pitchFamily="2" charset="0"/>
                <a:cs typeface="Open Sans" pitchFamily="2" charset="0"/>
              </a:rPr>
              <a:t>Indicative Investment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9D2B8-BAF8-E391-2956-8384D62A4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71600"/>
            <a:ext cx="9140825" cy="609600"/>
          </a:xfrm>
          <a:solidFill>
            <a:srgbClr val="B6B6B6"/>
          </a:solidFill>
        </p:spPr>
        <p:txBody>
          <a:bodyPr anchor="ctr" anchorCtr="1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Whinfell is advising a number of US-based carbon credit generators at various stages of development.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80674-02F1-8755-B1F4-6B3277C9F0FC}"/>
              </a:ext>
            </a:extLst>
          </p:cNvPr>
          <p:cNvSpPr txBox="1"/>
          <p:nvPr/>
        </p:nvSpPr>
        <p:spPr>
          <a:xfrm>
            <a:off x="457200" y="2254624"/>
            <a:ext cx="2895600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7BD23-671F-9FEF-C488-69408453B3F2}"/>
              </a:ext>
            </a:extLst>
          </p:cNvPr>
          <p:cNvSpPr txBox="1"/>
          <p:nvPr/>
        </p:nvSpPr>
        <p:spPr>
          <a:xfrm>
            <a:off x="3581401" y="2254624"/>
            <a:ext cx="2895600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4A9BC-6784-B538-496A-08BE2BA270F4}"/>
              </a:ext>
            </a:extLst>
          </p:cNvPr>
          <p:cNvSpPr txBox="1"/>
          <p:nvPr/>
        </p:nvSpPr>
        <p:spPr>
          <a:xfrm>
            <a:off x="6705601" y="2254624"/>
            <a:ext cx="2895600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8AD07-0F55-B383-0D39-389585122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228" y="2743200"/>
            <a:ext cx="2031589" cy="746830"/>
          </a:xfrm>
          <a:prstGeom prst="rect">
            <a:avLst/>
          </a:prstGeom>
        </p:spPr>
      </p:pic>
      <p:pic>
        <p:nvPicPr>
          <p:cNvPr id="1026" name="Picture 2" descr="IGP">
            <a:extLst>
              <a:ext uri="{FF2B5EF4-FFF2-40B4-BE49-F238E27FC236}">
                <a16:creationId xmlns:a16="http://schemas.microsoft.com/office/drawing/2014/main" id="{60763BF2-152E-162A-65B9-1925B2B0A9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555" r="62857"/>
          <a:stretch/>
        </p:blipFill>
        <p:spPr bwMode="auto">
          <a:xfrm>
            <a:off x="561975" y="5867400"/>
            <a:ext cx="1779115" cy="60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GP">
            <a:extLst>
              <a:ext uri="{FF2B5EF4-FFF2-40B4-BE49-F238E27FC236}">
                <a16:creationId xmlns:a16="http://schemas.microsoft.com/office/drawing/2014/main" id="{D03F230C-84F3-3505-E73E-D91791FA1A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43" t="-3045"/>
          <a:stretch/>
        </p:blipFill>
        <p:spPr bwMode="auto">
          <a:xfrm>
            <a:off x="533400" y="6478428"/>
            <a:ext cx="2031589" cy="383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AA0B224-98D9-4650-9527-8A3B86CDE2C9}"/>
              </a:ext>
            </a:extLst>
          </p:cNvPr>
          <p:cNvSpPr txBox="1">
            <a:spLocks/>
          </p:cNvSpPr>
          <p:nvPr/>
        </p:nvSpPr>
        <p:spPr bwMode="gray">
          <a:xfrm>
            <a:off x="6629400" y="2611730"/>
            <a:ext cx="2967038" cy="153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Will sequester ~450K tonnes CO</a:t>
            </a:r>
            <a:r>
              <a:rPr lang="en-US" sz="1200" kern="0" baseline="-25000" dirty="0">
                <a:solidFill>
                  <a:schemeClr val="tx1"/>
                </a:solidFill>
              </a:rPr>
              <a:t>2</a:t>
            </a:r>
            <a:r>
              <a:rPr lang="en-US" sz="1200" kern="0" dirty="0">
                <a:solidFill>
                  <a:schemeClr val="tx1"/>
                </a:solidFill>
              </a:rPr>
              <a:t> per year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Seeks to raise ~$15mm via future credit monetization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Puro registration in-process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EBITDA margins of &gt;30%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120DB8-5434-CAB9-3821-5695ED395E0E}"/>
              </a:ext>
            </a:extLst>
          </p:cNvPr>
          <p:cNvSpPr txBox="1">
            <a:spLocks/>
          </p:cNvSpPr>
          <p:nvPr/>
        </p:nvSpPr>
        <p:spPr bwMode="gray">
          <a:xfrm>
            <a:off x="3505200" y="2590800"/>
            <a:ext cx="2971801" cy="153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Development-stage corn biofuels platform based in Iowa, USA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Industry-leading carbon impact score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Capacity of 20mm gallons SAF, 68mm gallons ethanol, and other co-products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7673BCB-EC91-0B7E-CF05-3FDF29301C13}"/>
              </a:ext>
            </a:extLst>
          </p:cNvPr>
          <p:cNvSpPr txBox="1">
            <a:spLocks/>
          </p:cNvSpPr>
          <p:nvPr/>
        </p:nvSpPr>
        <p:spPr bwMode="gray">
          <a:xfrm>
            <a:off x="6634162" y="5791200"/>
            <a:ext cx="2967038" cy="153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Will sequester ~1mm tonnes CO</a:t>
            </a:r>
            <a:r>
              <a:rPr lang="en-US" sz="1200" kern="0" baseline="-25000" dirty="0">
                <a:solidFill>
                  <a:schemeClr val="tx1"/>
                </a:solidFill>
              </a:rPr>
              <a:t>2</a:t>
            </a:r>
            <a:r>
              <a:rPr lang="en-US" sz="1200" kern="0" dirty="0">
                <a:solidFill>
                  <a:schemeClr val="tx1"/>
                </a:solidFill>
              </a:rPr>
              <a:t> per year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Seeks to raise ~$60mm via future credit monetization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Puro registration in-process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EBITDA margins of &gt;20%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1760FD9-986E-C051-0D5D-1404730D9565}"/>
              </a:ext>
            </a:extLst>
          </p:cNvPr>
          <p:cNvSpPr txBox="1">
            <a:spLocks/>
          </p:cNvSpPr>
          <p:nvPr/>
        </p:nvSpPr>
        <p:spPr bwMode="gray">
          <a:xfrm>
            <a:off x="3509962" y="5791200"/>
            <a:ext cx="2971801" cy="153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Development-stage blue methanol project based in Louisiana, USA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Capacity of 1.8mm tonnes blue methanol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Off-take agreements for 80% of capacity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  <p:pic>
        <p:nvPicPr>
          <p:cNvPr id="21" name="Picture 20" descr="Logo&#10;&#10;Description automatically generated">
            <a:extLst>
              <a:ext uri="{FF2B5EF4-FFF2-40B4-BE49-F238E27FC236}">
                <a16:creationId xmlns:a16="http://schemas.microsoft.com/office/drawing/2014/main" id="{7BB9708E-CA11-7B2E-738E-75071C4FC76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2" b="27875"/>
          <a:stretch/>
        </p:blipFill>
        <p:spPr>
          <a:xfrm>
            <a:off x="475920" y="4121930"/>
            <a:ext cx="2191080" cy="1273100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36A95E4-9540-17AA-65EA-2A4BBC51A768}"/>
              </a:ext>
            </a:extLst>
          </p:cNvPr>
          <p:cNvSpPr txBox="1">
            <a:spLocks/>
          </p:cNvSpPr>
          <p:nvPr/>
        </p:nvSpPr>
        <p:spPr bwMode="gray">
          <a:xfrm>
            <a:off x="6634162" y="4125265"/>
            <a:ext cx="2967038" cy="153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Will sequester 4 tonnes CO</a:t>
            </a:r>
            <a:r>
              <a:rPr lang="en-US" sz="1200" kern="0" baseline="-25000" dirty="0">
                <a:solidFill>
                  <a:schemeClr val="tx1"/>
                </a:solidFill>
              </a:rPr>
              <a:t>2</a:t>
            </a:r>
            <a:r>
              <a:rPr lang="en-US" sz="1200" kern="0" dirty="0">
                <a:solidFill>
                  <a:schemeClr val="tx1"/>
                </a:solidFill>
              </a:rPr>
              <a:t>/cave and ~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Raising ~$20mm project financing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ICR and J Blue Credit registration in 2023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10-IRR of ~17% at $20mm investment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3995378-9F53-6701-889C-C5DA9293451C}"/>
              </a:ext>
            </a:extLst>
          </p:cNvPr>
          <p:cNvSpPr txBox="1">
            <a:spLocks/>
          </p:cNvSpPr>
          <p:nvPr/>
        </p:nvSpPr>
        <p:spPr bwMode="gray">
          <a:xfrm>
            <a:off x="3509962" y="4114800"/>
            <a:ext cx="2971801" cy="1536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Biogenic sea cave producer based in California, USA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Pilot project underway in Baja, Mexico in partnership with local fishing co-ops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Additional projects scheduled for California coast, Senegal, Papua New Guinea, and other regions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70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AAD805F0-2F61-DF42-A7E0-810AE3B35B6D}"/>
              </a:ext>
            </a:extLst>
          </p:cNvPr>
          <p:cNvSpPr txBox="1"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 bwMode="gray">
          <a:xfrm>
            <a:off x="649202" y="3546851"/>
            <a:ext cx="8226425" cy="350865"/>
          </a:xfrm>
          <a:prstGeom prst="rect">
            <a:avLst/>
          </a:prstGeom>
          <a:noFill/>
          <a:ln w="9525" algn="ctr">
            <a:noFill/>
            <a:prstDash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3175" indent="0" algn="l" defTabSz="101917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None/>
              <a:defRPr lang="en-US" sz="1800" b="1">
                <a:solidFill>
                  <a:srgbClr val="004010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517525" marR="0" lvl="0" indent="-514350" algn="l" defTabSz="1019175" rtl="0" eaLnBrk="1" fontAlgn="base" latinLnBrk="0" hangingPunct="1">
              <a:lnSpc>
                <a:spcPct val="95000"/>
              </a:lnSpc>
              <a:spcBef>
                <a:spcPct val="35000"/>
              </a:spcBef>
              <a:spcAft>
                <a:spcPts val="800"/>
              </a:spcAft>
              <a:buSzPct val="100000"/>
              <a:buFont typeface="+mj-lt"/>
              <a:buAutoNum type="romanUcPeriod" startAt="2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</a:rPr>
              <a:t>Platform Overview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FB88FD-3675-37AC-918A-2AA0A23DA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162800"/>
            <a:ext cx="1219200" cy="1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58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4732338" y="7167724"/>
            <a:ext cx="593725" cy="147476"/>
          </a:xfrm>
          <a:noFill/>
        </p:spPr>
        <p:txBody>
          <a:bodyPr/>
          <a:lstStyle>
            <a:lvl1pPr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C0762617-0C67-475A-A748-6E85CA3A9A01}" type="slidenum">
              <a:rPr lang="en-US" sz="1000"/>
              <a:pPr eaLnBrk="1" hangingPunct="1"/>
              <a:t>10</a:t>
            </a:fld>
            <a:endParaRPr lang="en-US" sz="1000" dirty="0"/>
          </a:p>
        </p:txBody>
      </p:sp>
      <p:sp>
        <p:nvSpPr>
          <p:cNvPr id="13" name="_Section_Name">
            <a:extLst>
              <a:ext uri="{FF2B5EF4-FFF2-40B4-BE49-F238E27FC236}">
                <a16:creationId xmlns:a16="http://schemas.microsoft.com/office/drawing/2014/main" id="{27AADBE7-98D4-DA49-8C7C-F74B80411EB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57200" y="547688"/>
            <a:ext cx="91408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/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/>
              <a:t>Dexter Energy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BBF212E-194F-FD03-18A1-44CDD54CD2C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55613" y="969952"/>
            <a:ext cx="9140825" cy="66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91440">
            <a:spAutoFit/>
          </a:bodyPr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>
                <a:ea typeface="Open Sans" pitchFamily="2" charset="0"/>
                <a:cs typeface="Open Sans" pitchFamily="2" charset="0"/>
              </a:rPr>
              <a:t>            Summary Profile: Dexter, IA Facility  	</a:t>
            </a:r>
            <a:r>
              <a:rPr lang="en-US" sz="1200" b="1" i="1" dirty="0">
                <a:ea typeface="Open Sans" pitchFamily="2" charset="0"/>
                <a:cs typeface="Open Sans" pitchFamily="2" charset="0"/>
              </a:rPr>
              <a:t>($ in millions, unless otherwise indicated)</a:t>
            </a:r>
          </a:p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endParaRPr lang="en-US" sz="1800" b="1" dirty="0"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FC35C-C231-3C61-6A9D-08926AAEBD4B}"/>
              </a:ext>
            </a:extLst>
          </p:cNvPr>
          <p:cNvSpPr txBox="1"/>
          <p:nvPr/>
        </p:nvSpPr>
        <p:spPr>
          <a:xfrm>
            <a:off x="5154012" y="3733800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Operational Footprint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D26EC-EC36-B7EB-015F-826FEE3A88EC}"/>
              </a:ext>
            </a:extLst>
          </p:cNvPr>
          <p:cNvSpPr txBox="1"/>
          <p:nvPr/>
        </p:nvSpPr>
        <p:spPr>
          <a:xfrm>
            <a:off x="457200" y="1641292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Business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9D1ED-0BCC-0843-FECD-B20102588745}"/>
              </a:ext>
            </a:extLst>
          </p:cNvPr>
          <p:cNvSpPr txBox="1"/>
          <p:nvPr/>
        </p:nvSpPr>
        <p:spPr>
          <a:xfrm>
            <a:off x="457200" y="4267200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Summary Financials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B1E6B-2C78-6EEF-7427-22C33A302E81}"/>
              </a:ext>
            </a:extLst>
          </p:cNvPr>
          <p:cNvSpPr txBox="1"/>
          <p:nvPr/>
        </p:nvSpPr>
        <p:spPr>
          <a:xfrm>
            <a:off x="5154012" y="1645024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Carbon Credits Opportunity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54197A-1C97-7E41-F7AD-DF652E3FA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35570"/>
            <a:ext cx="761288" cy="2798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E79BE8-6C72-6520-5631-3DA5660562E6}"/>
              </a:ext>
            </a:extLst>
          </p:cNvPr>
          <p:cNvSpPr txBox="1"/>
          <p:nvPr/>
        </p:nvSpPr>
        <p:spPr>
          <a:xfrm>
            <a:off x="5164172" y="5531224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Management &amp; Shareholders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73B7FA-38C3-3F56-E872-C63BF8F48381}"/>
              </a:ext>
            </a:extLst>
          </p:cNvPr>
          <p:cNvSpPr txBox="1">
            <a:spLocks/>
          </p:cNvSpPr>
          <p:nvPr/>
        </p:nvSpPr>
        <p:spPr bwMode="gray">
          <a:xfrm>
            <a:off x="5149249" y="5822950"/>
            <a:ext cx="4447188" cy="11947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100% owned by Dexter CEO &amp; Management</a:t>
            </a: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Pat Hinner, CEO (founding family member)</a:t>
            </a: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Jeff Kistner, CFO (formerly Cobank; currently turnaround CFO)</a:t>
            </a: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Wayne Mitchell (formerly Fagen)</a:t>
            </a: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5C08B0-3A2D-7448-CEF1-4ADD31CD14A5}"/>
              </a:ext>
            </a:extLst>
          </p:cNvPr>
          <p:cNvSpPr txBox="1"/>
          <p:nvPr/>
        </p:nvSpPr>
        <p:spPr>
          <a:xfrm>
            <a:off x="381000" y="6916579"/>
            <a:ext cx="91565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ea typeface="Open Sans" panose="020B0606030504020204" pitchFamily="34" charset="0"/>
                <a:cs typeface="Open Sans" panose="020B0606030504020204" pitchFamily="34" charset="0"/>
              </a:rPr>
              <a:t>Source:  Dexter Management (Nov-22)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74FBB3C-435D-8541-A851-F103F93DC270}"/>
              </a:ext>
            </a:extLst>
          </p:cNvPr>
          <p:cNvSpPr txBox="1">
            <a:spLocks/>
          </p:cNvSpPr>
          <p:nvPr/>
        </p:nvSpPr>
        <p:spPr bwMode="gray">
          <a:xfrm>
            <a:off x="455613" y="1981201"/>
            <a:ext cx="4447188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2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68mm-gallon facility to produce an attractive portfolio of bioenergy products and coproducts</a:t>
            </a:r>
          </a:p>
          <a:p>
            <a:pPr marL="346075" lvl="1" indent="-169863">
              <a:lnSpc>
                <a:spcPct val="100000"/>
              </a:lnSpc>
              <a:spcAft>
                <a:spcPts val="4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Includes low CI ethanol, SAF, human grade high protein corn starch, and dried distiller’s grains</a:t>
            </a:r>
          </a:p>
          <a:p>
            <a:pPr marL="173038" indent="-173038">
              <a:lnSpc>
                <a:spcPct val="100000"/>
              </a:lnSpc>
              <a:spcAft>
                <a:spcPts val="2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Preliminary debt and equity term sheets received for $420mm financing including up to $300mm USDA debt guarantee</a:t>
            </a:r>
          </a:p>
          <a:p>
            <a:pPr marL="346075" lvl="1" indent="-169863">
              <a:lnSpc>
                <a:spcPct val="100000"/>
              </a:lnSpc>
              <a:spcAft>
                <a:spcPts val="4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Also seeking additional $15mm of near-term liquidity 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18 to 24-month construction and ramp-up period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Off-take/corn procurement agreements with CHS and hedging arrangements with Cargill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6842E78-9FBC-F62C-BEE5-312374BD56AF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457200" y="4613652"/>
            <a:ext cx="4255905" cy="2248079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481F2B5-169F-BD6F-7521-A10456891010}"/>
              </a:ext>
            </a:extLst>
          </p:cNvPr>
          <p:cNvSpPr txBox="1">
            <a:spLocks/>
          </p:cNvSpPr>
          <p:nvPr/>
        </p:nvSpPr>
        <p:spPr bwMode="gray">
          <a:xfrm>
            <a:off x="5154012" y="1949824"/>
            <a:ext cx="4447188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Facility will sequester 400,000  to 500,000 CO</a:t>
            </a:r>
            <a:r>
              <a:rPr lang="en-US" sz="1200" kern="0" baseline="-25000" dirty="0">
                <a:solidFill>
                  <a:schemeClr val="tx1"/>
                </a:solidFill>
              </a:rPr>
              <a:t>2</a:t>
            </a:r>
            <a:r>
              <a:rPr lang="en-US" sz="1200" kern="0" dirty="0">
                <a:solidFill>
                  <a:schemeClr val="tx1"/>
                </a:solidFill>
              </a:rPr>
              <a:t> per year</a:t>
            </a:r>
          </a:p>
          <a:p>
            <a:pPr marL="346075" lvl="1" indent="-169863">
              <a:lnSpc>
                <a:spcPct val="100000"/>
              </a:lnSpc>
              <a:spcAft>
                <a:spcPts val="4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Will utilize Navigator pipeline for permanent sequestration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Seeks to monetize 15-20% of projected CO</a:t>
            </a:r>
            <a:r>
              <a:rPr lang="en-US" sz="1200" kern="0" baseline="-25000" dirty="0">
                <a:solidFill>
                  <a:schemeClr val="tx1"/>
                </a:solidFill>
              </a:rPr>
              <a:t>2</a:t>
            </a:r>
            <a:r>
              <a:rPr lang="en-US" sz="1200" kern="0" dirty="0">
                <a:solidFill>
                  <a:schemeClr val="tx1"/>
                </a:solidFill>
              </a:rPr>
              <a:t> credits using Puro’s methodology</a:t>
            </a:r>
          </a:p>
          <a:p>
            <a:pPr marL="346075" lvl="1" indent="-169863">
              <a:lnSpc>
                <a:spcPct val="100000"/>
              </a:lnSpc>
              <a:spcAft>
                <a:spcPts val="4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Currently marketing 200,000 tonnes to direct buyers</a:t>
            </a:r>
          </a:p>
          <a:p>
            <a:pPr marL="346075" lvl="1" indent="-169863">
              <a:lnSpc>
                <a:spcPct val="100000"/>
              </a:lnSpc>
              <a:spcAft>
                <a:spcPts val="6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Likely Puro and CIX auctions during Q2-2023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Estimated credit value of $100 to $300 / tonne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90977EA-51BF-4FA2-F58E-825857D22328}"/>
              </a:ext>
            </a:extLst>
          </p:cNvPr>
          <p:cNvSpPr txBox="1">
            <a:spLocks/>
          </p:cNvSpPr>
          <p:nvPr/>
        </p:nvSpPr>
        <p:spPr bwMode="gray">
          <a:xfrm>
            <a:off x="5154012" y="4038600"/>
            <a:ext cx="1892851" cy="570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</a:pPr>
            <a:r>
              <a:rPr lang="en-US" sz="1200" kern="0" dirty="0">
                <a:solidFill>
                  <a:schemeClr val="tx1"/>
                </a:solidFill>
              </a:rPr>
              <a:t>Will be constructed on 186 acres in Dexter, IA</a:t>
            </a:r>
          </a:p>
          <a:p>
            <a:pPr marL="173038" indent="-173038">
              <a:lnSpc>
                <a:spcPct val="100000"/>
              </a:lnSpc>
            </a:pPr>
            <a:r>
              <a:rPr lang="en-US" sz="1200" kern="0" dirty="0">
                <a:solidFill>
                  <a:schemeClr val="tx1"/>
                </a:solidFill>
              </a:rPr>
              <a:t>On-site access to rail and I-80</a:t>
            </a:r>
          </a:p>
          <a:p>
            <a:pPr marL="173038" indent="-173038">
              <a:lnSpc>
                <a:spcPct val="100000"/>
              </a:lnSpc>
            </a:pPr>
            <a:r>
              <a:rPr lang="en-US" sz="1200" kern="0" dirty="0">
                <a:solidFill>
                  <a:schemeClr val="tx1"/>
                </a:solidFill>
              </a:rPr>
              <a:t>Space to double ethanol and SAF capacity</a:t>
            </a:r>
          </a:p>
          <a:p>
            <a:pPr marL="173038" indent="-173038">
              <a:lnSpc>
                <a:spcPct val="100000"/>
              </a:lnSpc>
            </a:pPr>
            <a:endParaRPr lang="en-US" sz="1200" kern="0" dirty="0">
              <a:solidFill>
                <a:schemeClr val="tx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44C64A8-A1A6-175E-A6A3-990006CE0F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488" y="4114800"/>
            <a:ext cx="2292564" cy="13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7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EF8B6040-D942-A473-25D5-E0EC3B292C88}"/>
              </a:ext>
            </a:extLst>
          </p:cNvPr>
          <p:cNvSpPr/>
          <p:nvPr/>
        </p:nvSpPr>
        <p:spPr bwMode="auto">
          <a:xfrm>
            <a:off x="460376" y="5340172"/>
            <a:ext cx="9140824" cy="1139396"/>
          </a:xfrm>
          <a:prstGeom prst="rect">
            <a:avLst/>
          </a:prstGeom>
          <a:solidFill>
            <a:srgbClr val="004010">
              <a:alpha val="3568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1" u="none" strike="noStrike" cap="small" normalizeH="0" dirty="0">
              <a:ln>
                <a:noFill/>
              </a:ln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50790F-E377-8139-47B8-A44EB6F9229A}"/>
              </a:ext>
            </a:extLst>
          </p:cNvPr>
          <p:cNvSpPr/>
          <p:nvPr/>
        </p:nvSpPr>
        <p:spPr bwMode="auto">
          <a:xfrm>
            <a:off x="4385460" y="1667531"/>
            <a:ext cx="2537727" cy="93755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u="none" strike="noStrike" cap="small" normalizeH="0" dirty="0">
              <a:ln>
                <a:noFill/>
              </a:ln>
              <a:effectLst/>
              <a:latin typeface="Suez One" pitchFamily="2" charset="-79"/>
              <a:ea typeface="Open Sans" pitchFamily="2" charset="0"/>
              <a:cs typeface="Suez One" pitchFamily="2" charset="-79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8E80970-4183-F14B-BFC4-05082BD97763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4732338" y="7167724"/>
            <a:ext cx="593725" cy="147476"/>
          </a:xfrm>
          <a:noFill/>
        </p:spPr>
        <p:txBody>
          <a:bodyPr/>
          <a:lstStyle>
            <a:lvl1pPr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C0762617-0C67-475A-A748-6E85CA3A9A01}" type="slidenum">
              <a:rPr lang="en-US" sz="1000"/>
              <a:pPr eaLnBrk="1" hangingPunct="1"/>
              <a:t>11</a:t>
            </a:fld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401E71-E347-5144-A2B1-C913C31ABD20}"/>
              </a:ext>
            </a:extLst>
          </p:cNvPr>
          <p:cNvSpPr/>
          <p:nvPr/>
        </p:nvSpPr>
        <p:spPr bwMode="auto">
          <a:xfrm>
            <a:off x="4385460" y="1963437"/>
            <a:ext cx="2537727" cy="79202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600" b="1" u="none" strike="noStrike" cap="small" normalizeH="0" dirty="0">
                <a:ln>
                  <a:noFill/>
                </a:ln>
                <a:solidFill>
                  <a:srgbClr val="138B44"/>
                </a:solidFill>
                <a:effectLst/>
                <a:latin typeface="Suez One" pitchFamily="2" charset="-79"/>
                <a:ea typeface="Open Sans" pitchFamily="2" charset="0"/>
                <a:cs typeface="Suez One" pitchFamily="2" charset="-79"/>
              </a:rPr>
              <a:t>AGRA</a:t>
            </a:r>
            <a:endParaRPr kumimoji="0" lang="en-US" sz="2400" b="1" u="none" strike="noStrike" cap="small" normalizeH="0" dirty="0">
              <a:ln>
                <a:noFill/>
              </a:ln>
              <a:solidFill>
                <a:srgbClr val="138B44"/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marR="0" indent="0" algn="ctr" defTabSz="1019175" rtl="0" eaLnBrk="1" fontAlgn="base" latinLnBrk="0" hangingPunct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u="none" strike="noStrike" normalizeH="0" dirty="0">
                <a:ln>
                  <a:noFill/>
                </a:ln>
                <a:effectLst/>
                <a:latin typeface="Suez One" pitchFamily="2" charset="-79"/>
                <a:ea typeface="Open Sans" pitchFamily="2" charset="0"/>
                <a:cs typeface="Suez One" pitchFamily="2" charset="-79"/>
              </a:rPr>
              <a:t>Global Bioproducts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12DCD3-066F-A0B6-04AE-B442E255AD7F}"/>
              </a:ext>
            </a:extLst>
          </p:cNvPr>
          <p:cNvSpPr/>
          <p:nvPr/>
        </p:nvSpPr>
        <p:spPr bwMode="auto">
          <a:xfrm>
            <a:off x="455612" y="3761964"/>
            <a:ext cx="9140824" cy="482190"/>
          </a:xfrm>
          <a:prstGeom prst="rect">
            <a:avLst/>
          </a:prstGeom>
          <a:solidFill>
            <a:srgbClr val="004010">
              <a:alpha val="3568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C0</a:t>
            </a:r>
            <a:r>
              <a:rPr kumimoji="0" lang="en-US" sz="1200" b="1" i="1" u="none" strike="noStrike" cap="small" normalizeH="0" baseline="-2500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2</a:t>
            </a:r>
            <a:r>
              <a:rPr lang="en-US" sz="1200" b="1" i="1" cap="small" dirty="0">
                <a:ea typeface="Open Sans" pitchFamily="2" charset="0"/>
                <a:cs typeface="Open Sans" pitchFamily="2" charset="0"/>
              </a:rPr>
              <a:t> </a:t>
            </a:r>
            <a: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Credits Generated</a:t>
            </a:r>
            <a:b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</a:br>
            <a: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Through Sequestration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42D3A7-9E9B-DF41-9F1E-91F5C7747A3D}"/>
              </a:ext>
            </a:extLst>
          </p:cNvPr>
          <p:cNvSpPr/>
          <p:nvPr/>
        </p:nvSpPr>
        <p:spPr bwMode="auto">
          <a:xfrm>
            <a:off x="2286000" y="3152364"/>
            <a:ext cx="1981200" cy="17244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  <a:t>Bio Energy Campus I:</a:t>
            </a:r>
            <a:br>
              <a:rPr kumimoji="0" lang="en-US" sz="1200" b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</a:br>
            <a:r>
              <a:rPr kumimoji="0" lang="en-US" sz="1200" b="1" i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  <a:t>Dexter, Iowa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5E0AAC-2D39-1F3C-5421-3FC2EA4E8CD0}"/>
              </a:ext>
            </a:extLst>
          </p:cNvPr>
          <p:cNvSpPr/>
          <p:nvPr/>
        </p:nvSpPr>
        <p:spPr bwMode="auto">
          <a:xfrm>
            <a:off x="4663723" y="3152364"/>
            <a:ext cx="1981200" cy="17244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1019175"/>
            <a:r>
              <a:rPr kumimoji="0" lang="en-US" sz="1200" b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  <a:t>Bio Energy Campus II:</a:t>
            </a:r>
            <a:br>
              <a:rPr kumimoji="0" lang="en-US" sz="1200" b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</a:br>
            <a:r>
              <a:rPr lang="en-US" sz="1200" b="1" i="1" cap="small" dirty="0">
                <a:solidFill>
                  <a:schemeClr val="bg1"/>
                </a:solidFill>
                <a:ea typeface="Open Sans" pitchFamily="2" charset="0"/>
                <a:cs typeface="Open Sans" pitchFamily="2" charset="0"/>
              </a:rPr>
              <a:t>Griggsville, Illinois</a:t>
            </a:r>
            <a:endParaRPr kumimoji="0" lang="en-US" sz="1200" b="1" i="1" u="none" strike="noStrike" cap="small" normalizeH="0" dirty="0">
              <a:ln>
                <a:noFill/>
              </a:ln>
              <a:solidFill>
                <a:schemeClr val="bg1"/>
              </a:solidFill>
              <a:effectLst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663B41-D0A7-C4B9-FBCA-DC7F492CF6A7}"/>
              </a:ext>
            </a:extLst>
          </p:cNvPr>
          <p:cNvSpPr/>
          <p:nvPr/>
        </p:nvSpPr>
        <p:spPr bwMode="auto">
          <a:xfrm>
            <a:off x="7010400" y="3152364"/>
            <a:ext cx="1981200" cy="172443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u="none" strike="noStrike" cap="small" normalizeH="0" dirty="0">
              <a:ln>
                <a:noFill/>
              </a:ln>
              <a:solidFill>
                <a:schemeClr val="bg1"/>
              </a:solidFill>
              <a:effectLst/>
              <a:ea typeface="Open Sans" pitchFamily="2" charset="0"/>
              <a:cs typeface="Open Sans" pitchFamily="2" charset="0"/>
            </a:endParaRPr>
          </a:p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  <a:t>Sites III &amp; Beyond:</a:t>
            </a:r>
            <a:br>
              <a:rPr kumimoji="0" lang="en-US" sz="1200" b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</a:br>
            <a:r>
              <a:rPr kumimoji="0" lang="en-US" sz="1200" b="1" i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  <a:t>Midwest US &amp; International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BF083B-DE4A-EBA7-92D9-1FBA86ED8400}"/>
              </a:ext>
            </a:extLst>
          </p:cNvPr>
          <p:cNvSpPr/>
          <p:nvPr/>
        </p:nvSpPr>
        <p:spPr bwMode="auto">
          <a:xfrm>
            <a:off x="914400" y="5778843"/>
            <a:ext cx="1825336" cy="29191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  <a:t>Cumulative EBITDA</a:t>
            </a:r>
            <a:endParaRPr kumimoji="0" lang="en-US" sz="1200" b="1" u="none" strike="noStrike" cap="small" normalizeH="0" baseline="30000" dirty="0">
              <a:ln>
                <a:noFill/>
              </a:ln>
              <a:solidFill>
                <a:schemeClr val="bg1"/>
              </a:solidFill>
              <a:effectLst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6511D4-B706-007B-3517-F65C5B0A9F26}"/>
              </a:ext>
            </a:extLst>
          </p:cNvPr>
          <p:cNvSpPr/>
          <p:nvPr/>
        </p:nvSpPr>
        <p:spPr bwMode="auto">
          <a:xfrm>
            <a:off x="914400" y="6143967"/>
            <a:ext cx="1825336" cy="29191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  <a:t>Cumulative Capex</a:t>
            </a:r>
            <a:endParaRPr kumimoji="0" lang="en-US" sz="1200" b="1" u="none" strike="noStrike" cap="small" normalizeH="0" baseline="30000" dirty="0">
              <a:ln>
                <a:noFill/>
              </a:ln>
              <a:solidFill>
                <a:schemeClr val="bg1"/>
              </a:solidFill>
              <a:effectLst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B46201-633F-9C5F-3CC8-E82983064D90}"/>
              </a:ext>
            </a:extLst>
          </p:cNvPr>
          <p:cNvSpPr/>
          <p:nvPr/>
        </p:nvSpPr>
        <p:spPr bwMode="auto">
          <a:xfrm>
            <a:off x="457200" y="3152364"/>
            <a:ext cx="9140824" cy="482190"/>
          </a:xfrm>
          <a:prstGeom prst="rect">
            <a:avLst/>
          </a:prstGeom>
          <a:solidFill>
            <a:srgbClr val="004010">
              <a:alpha val="3568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Advanced</a:t>
            </a:r>
            <a:b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</a:br>
            <a: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Biofuels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1EC1CE-A842-D792-8FDE-AA87161883B3}"/>
              </a:ext>
            </a:extLst>
          </p:cNvPr>
          <p:cNvSpPr/>
          <p:nvPr/>
        </p:nvSpPr>
        <p:spPr bwMode="auto">
          <a:xfrm>
            <a:off x="457200" y="4371564"/>
            <a:ext cx="9140824" cy="482191"/>
          </a:xfrm>
          <a:prstGeom prst="rect">
            <a:avLst/>
          </a:prstGeom>
          <a:solidFill>
            <a:srgbClr val="004010">
              <a:alpha val="3568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High Margin</a:t>
            </a:r>
            <a:b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</a:br>
            <a:r>
              <a:rPr kumimoji="0" lang="en-US" sz="1200" b="1" i="1" u="none" strike="noStrike" cap="small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Co-Products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E2C174-5A01-5142-1FFE-BD24BD0E2D94}"/>
              </a:ext>
            </a:extLst>
          </p:cNvPr>
          <p:cNvSpPr/>
          <p:nvPr/>
        </p:nvSpPr>
        <p:spPr bwMode="auto">
          <a:xfrm>
            <a:off x="7344090" y="1655753"/>
            <a:ext cx="1313821" cy="40164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1" u="none" strike="noStrike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Financial Partners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E94761-6525-10E6-9CF6-910BEF5DCBFD}"/>
              </a:ext>
            </a:extLst>
          </p:cNvPr>
          <p:cNvSpPr/>
          <p:nvPr/>
        </p:nvSpPr>
        <p:spPr bwMode="auto">
          <a:xfrm>
            <a:off x="7344090" y="2189153"/>
            <a:ext cx="1313821" cy="40164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1" u="none" strike="noStrike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Commercial &amp; </a:t>
            </a:r>
            <a:br>
              <a:rPr kumimoji="0" lang="en-US" sz="1200" b="1" i="1" u="none" strike="noStrike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</a:br>
            <a:r>
              <a:rPr kumimoji="0" lang="en-US" sz="1200" b="1" i="1" u="none" strike="noStrike" normalizeH="0" dirty="0">
                <a:ln>
                  <a:noFill/>
                </a:ln>
                <a:effectLst/>
                <a:ea typeface="Open Sans" pitchFamily="2" charset="0"/>
                <a:cs typeface="Open Sans" pitchFamily="2" charset="0"/>
              </a:rPr>
              <a:t>Other Partners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97247-AEF7-730D-F8B2-3AC8CE817D88}"/>
              </a:ext>
            </a:extLst>
          </p:cNvPr>
          <p:cNvSpPr/>
          <p:nvPr/>
        </p:nvSpPr>
        <p:spPr bwMode="auto">
          <a:xfrm>
            <a:off x="2665413" y="1822628"/>
            <a:ext cx="1144587" cy="6273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19175" rtl="0" eaLnBrk="1" fontAlgn="base" latinLnBrk="0" hangingPunct="1">
              <a:lnSpc>
                <a:spcPts val="12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u="none" strike="noStrike" cap="small" normalizeH="0" dirty="0">
                <a:ln>
                  <a:noFill/>
                </a:ln>
                <a:solidFill>
                  <a:srgbClr val="138B44"/>
                </a:solidFill>
                <a:effectLst/>
                <a:latin typeface="Suez One" pitchFamily="2" charset="-79"/>
                <a:ea typeface="Open Sans" pitchFamily="2" charset="0"/>
                <a:cs typeface="Suez One" pitchFamily="2" charset="-79"/>
              </a:rPr>
              <a:t>AGRA</a:t>
            </a:r>
            <a:endParaRPr kumimoji="0" lang="en-US" sz="800" b="1" u="none" strike="noStrike" cap="small" normalizeH="0" dirty="0">
              <a:ln>
                <a:noFill/>
              </a:ln>
              <a:solidFill>
                <a:srgbClr val="138B44"/>
              </a:solidFill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marR="0" indent="0" algn="ctr" defTabSz="1019175" rtl="0" eaLnBrk="1" fontAlgn="base" latinLnBrk="0" hangingPunct="1">
              <a:lnSpc>
                <a:spcPts val="1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u="none" strike="noStrike" normalizeH="0" dirty="0">
                <a:ln>
                  <a:noFill/>
                </a:ln>
                <a:effectLst/>
                <a:latin typeface="Suez One" pitchFamily="2" charset="-79"/>
                <a:ea typeface="Open Sans" pitchFamily="2" charset="0"/>
                <a:cs typeface="Suez One" pitchFamily="2" charset="-79"/>
              </a:rPr>
              <a:t>Industries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EA54636-8272-34E5-CEC8-B9F129EC2416}"/>
              </a:ext>
            </a:extLst>
          </p:cNvPr>
          <p:cNvSpPr txBox="1">
            <a:spLocks/>
          </p:cNvSpPr>
          <p:nvPr/>
        </p:nvSpPr>
        <p:spPr bwMode="gray">
          <a:xfrm>
            <a:off x="2127889" y="5778843"/>
            <a:ext cx="2133133" cy="409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pitchFamily="2" charset="2"/>
              <a:buChar char="n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–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Wingdings" pitchFamily="2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200" kern="0" dirty="0">
                <a:latin typeface="Garamond" panose="02020404030301010803" pitchFamily="18" charset="0"/>
              </a:rPr>
              <a:t>~$180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448A26F-F60F-648B-CCF6-9580AA17E70B}"/>
              </a:ext>
            </a:extLst>
          </p:cNvPr>
          <p:cNvSpPr txBox="1">
            <a:spLocks/>
          </p:cNvSpPr>
          <p:nvPr/>
        </p:nvSpPr>
        <p:spPr bwMode="gray">
          <a:xfrm>
            <a:off x="2127889" y="6143967"/>
            <a:ext cx="2133133" cy="409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pitchFamily="2" charset="2"/>
              <a:buChar char="n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–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Wingdings" pitchFamily="2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200" kern="0" dirty="0">
                <a:latin typeface="Garamond" panose="02020404030301010803" pitchFamily="18" charset="0"/>
              </a:rPr>
              <a:t>~$470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3611712-FB9F-8FE6-258D-E5ED3DA59886}"/>
              </a:ext>
            </a:extLst>
          </p:cNvPr>
          <p:cNvSpPr txBox="1">
            <a:spLocks/>
          </p:cNvSpPr>
          <p:nvPr/>
        </p:nvSpPr>
        <p:spPr bwMode="gray">
          <a:xfrm>
            <a:off x="4522087" y="5778843"/>
            <a:ext cx="2133133" cy="409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pitchFamily="2" charset="2"/>
              <a:buChar char="n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–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Wingdings" pitchFamily="2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200" kern="0" dirty="0">
                <a:latin typeface="Garamond" panose="02020404030301010803" pitchFamily="18" charset="0"/>
              </a:rPr>
              <a:t>~$360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1228967-97F5-5141-3C8C-27F78CE7CA46}"/>
              </a:ext>
            </a:extLst>
          </p:cNvPr>
          <p:cNvSpPr txBox="1">
            <a:spLocks/>
          </p:cNvSpPr>
          <p:nvPr/>
        </p:nvSpPr>
        <p:spPr bwMode="gray">
          <a:xfrm>
            <a:off x="4522087" y="6143967"/>
            <a:ext cx="2133133" cy="409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pitchFamily="2" charset="2"/>
              <a:buChar char="n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–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Wingdings" pitchFamily="2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200" kern="0" dirty="0">
                <a:latin typeface="Garamond" panose="02020404030301010803" pitchFamily="18" charset="0"/>
              </a:rPr>
              <a:t>~$940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5717F03-DE80-C44D-D69D-41B37FFE1020}"/>
              </a:ext>
            </a:extLst>
          </p:cNvPr>
          <p:cNvSpPr txBox="1">
            <a:spLocks/>
          </p:cNvSpPr>
          <p:nvPr/>
        </p:nvSpPr>
        <p:spPr bwMode="gray">
          <a:xfrm>
            <a:off x="6858467" y="5778843"/>
            <a:ext cx="2133133" cy="409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pitchFamily="2" charset="2"/>
              <a:buChar char="n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–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Wingdings" pitchFamily="2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200" kern="0" dirty="0">
                <a:latin typeface="Garamond" panose="02020404030301010803" pitchFamily="18" charset="0"/>
              </a:rPr>
              <a:t>Up to $1,800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A5377D4-F727-3BDD-452A-211C3DE0F884}"/>
              </a:ext>
            </a:extLst>
          </p:cNvPr>
          <p:cNvSpPr txBox="1">
            <a:spLocks/>
          </p:cNvSpPr>
          <p:nvPr/>
        </p:nvSpPr>
        <p:spPr bwMode="gray">
          <a:xfrm>
            <a:off x="6858467" y="6143967"/>
            <a:ext cx="2133133" cy="409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pitchFamily="2" charset="2"/>
              <a:buChar char="n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–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Wingdings" pitchFamily="2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200" kern="0" dirty="0">
                <a:latin typeface="Garamond" panose="02020404030301010803" pitchFamily="18" charset="0"/>
              </a:rPr>
              <a:t>Up to ~$4,700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CB4B453-49F1-94E5-CC5F-2949D5310B22}"/>
              </a:ext>
            </a:extLst>
          </p:cNvPr>
          <p:cNvSpPr/>
          <p:nvPr/>
        </p:nvSpPr>
        <p:spPr bwMode="auto">
          <a:xfrm>
            <a:off x="914400" y="5410200"/>
            <a:ext cx="1825336" cy="29191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1" u="none" strike="noStrike" cap="small" normalizeH="0" dirty="0">
                <a:ln>
                  <a:noFill/>
                </a:ln>
                <a:solidFill>
                  <a:schemeClr val="bg1"/>
                </a:solidFill>
                <a:effectLst/>
                <a:ea typeface="Open Sans" pitchFamily="2" charset="0"/>
                <a:cs typeface="Open Sans" pitchFamily="2" charset="0"/>
              </a:rPr>
              <a:t>Cumulative # Sites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7B57CB1B-96BD-03BC-5868-A9FC2A557F47}"/>
              </a:ext>
            </a:extLst>
          </p:cNvPr>
          <p:cNvSpPr txBox="1">
            <a:spLocks/>
          </p:cNvSpPr>
          <p:nvPr/>
        </p:nvSpPr>
        <p:spPr bwMode="gray">
          <a:xfrm>
            <a:off x="2133600" y="5410200"/>
            <a:ext cx="2133133" cy="409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pitchFamily="2" charset="2"/>
              <a:buChar char="n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–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Wingdings" pitchFamily="2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200" kern="0" dirty="0">
                <a:latin typeface="Garamond" panose="02020404030301010803" pitchFamily="18" charset="0"/>
              </a:rPr>
              <a:t>1 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08C5DDE-672B-64C3-F7EF-CD77DCF98684}"/>
              </a:ext>
            </a:extLst>
          </p:cNvPr>
          <p:cNvSpPr txBox="1">
            <a:spLocks/>
          </p:cNvSpPr>
          <p:nvPr/>
        </p:nvSpPr>
        <p:spPr bwMode="gray">
          <a:xfrm>
            <a:off x="4527798" y="5410200"/>
            <a:ext cx="2133133" cy="409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pitchFamily="2" charset="2"/>
              <a:buChar char="n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–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Wingdings" pitchFamily="2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200" kern="0" dirty="0">
                <a:latin typeface="Garamond" panose="02020404030301010803" pitchFamily="18" charset="0"/>
              </a:rPr>
              <a:t>2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B141FBD8-8BC5-16B5-69DA-4A8AF8409E92}"/>
              </a:ext>
            </a:extLst>
          </p:cNvPr>
          <p:cNvSpPr txBox="1">
            <a:spLocks/>
          </p:cNvSpPr>
          <p:nvPr/>
        </p:nvSpPr>
        <p:spPr bwMode="gray">
          <a:xfrm>
            <a:off x="6864178" y="5410200"/>
            <a:ext cx="2133133" cy="4092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pitchFamily="2" charset="2"/>
              <a:buChar char="n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–"/>
              <a:def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SzPct val="75000"/>
              <a:buFont typeface="Wingdings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Garamond" pitchFamily="18" charset="0"/>
              <a:buChar char="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138B44"/>
              </a:buClr>
              <a:buFont typeface="Wingdings" pitchFamily="2" charset="2"/>
              <a:buChar char="§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200" kern="0" dirty="0">
                <a:latin typeface="Garamond" panose="02020404030301010803" pitchFamily="18" charset="0"/>
              </a:rPr>
              <a:t>7 to 10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CBB33BCE-16C0-2B7D-3AB8-B6EB1B4C62B3}"/>
              </a:ext>
            </a:extLst>
          </p:cNvPr>
          <p:cNvCxnSpPr>
            <a:stCxn id="40" idx="1"/>
            <a:endCxn id="23" idx="3"/>
          </p:cNvCxnSpPr>
          <p:nvPr/>
        </p:nvCxnSpPr>
        <p:spPr bwMode="auto">
          <a:xfrm rot="10800000" flipV="1">
            <a:off x="6923188" y="1856576"/>
            <a:ext cx="420903" cy="279733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4EAC42CF-AEEE-F164-5E1E-4B59B6C32CD5}"/>
              </a:ext>
            </a:extLst>
          </p:cNvPr>
          <p:cNvCxnSpPr>
            <a:cxnSpLocks/>
            <a:stCxn id="41" idx="1"/>
            <a:endCxn id="23" idx="3"/>
          </p:cNvCxnSpPr>
          <p:nvPr/>
        </p:nvCxnSpPr>
        <p:spPr bwMode="auto">
          <a:xfrm rot="10800000">
            <a:off x="6923188" y="2136311"/>
            <a:ext cx="420903" cy="25366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73CB-5EAF-B835-BBD9-1929D135116D}"/>
              </a:ext>
            </a:extLst>
          </p:cNvPr>
          <p:cNvCxnSpPr>
            <a:cxnSpLocks/>
            <a:stCxn id="50" idx="3"/>
            <a:endCxn id="23" idx="1"/>
          </p:cNvCxnSpPr>
          <p:nvPr/>
        </p:nvCxnSpPr>
        <p:spPr bwMode="auto">
          <a:xfrm>
            <a:off x="3810000" y="2136310"/>
            <a:ext cx="5754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F55E582C-2914-1D77-D7E4-2D440B0E1158}"/>
              </a:ext>
            </a:extLst>
          </p:cNvPr>
          <p:cNvCxnSpPr>
            <a:cxnSpLocks/>
            <a:stCxn id="23" idx="2"/>
            <a:endCxn id="30" idx="0"/>
          </p:cNvCxnSpPr>
          <p:nvPr/>
        </p:nvCxnSpPr>
        <p:spPr bwMode="auto">
          <a:xfrm rot="5400000">
            <a:off x="4191824" y="1689864"/>
            <a:ext cx="547276" cy="237772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43800348-62CC-F0CD-B8B0-943F03576A1A}"/>
              </a:ext>
            </a:extLst>
          </p:cNvPr>
          <p:cNvCxnSpPr>
            <a:cxnSpLocks/>
            <a:stCxn id="32" idx="0"/>
            <a:endCxn id="23" idx="2"/>
          </p:cNvCxnSpPr>
          <p:nvPr/>
        </p:nvCxnSpPr>
        <p:spPr bwMode="auto">
          <a:xfrm rot="16200000" flipV="1">
            <a:off x="6554024" y="1705388"/>
            <a:ext cx="547276" cy="234667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EBCC47-709F-FD89-EB12-503A612C7581}"/>
              </a:ext>
            </a:extLst>
          </p:cNvPr>
          <p:cNvCxnSpPr>
            <a:cxnSpLocks/>
            <a:stCxn id="23" idx="2"/>
          </p:cNvCxnSpPr>
          <p:nvPr/>
        </p:nvCxnSpPr>
        <p:spPr bwMode="auto">
          <a:xfrm flipH="1">
            <a:off x="5654323" y="2605088"/>
            <a:ext cx="1" cy="16115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_Section_Name">
            <a:extLst>
              <a:ext uri="{FF2B5EF4-FFF2-40B4-BE49-F238E27FC236}">
                <a16:creationId xmlns:a16="http://schemas.microsoft.com/office/drawing/2014/main" id="{953BC3EB-7AA4-B723-4EC8-ED1958F2E85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57200" y="547688"/>
            <a:ext cx="91408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/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/>
              <a:t>Dexter Energy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7E8FA-05C6-9937-79AE-94E6F4A38BCE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55613" y="969952"/>
            <a:ext cx="9140825" cy="66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91440">
            <a:spAutoFit/>
          </a:bodyPr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>
                <a:ea typeface="Open Sans" pitchFamily="2" charset="0"/>
                <a:cs typeface="Open Sans" pitchFamily="2" charset="0"/>
              </a:rPr>
              <a:t>            Summary Profile: Midwest Platform 	</a:t>
            </a:r>
            <a:r>
              <a:rPr lang="en-US" sz="1200" b="1" i="1" dirty="0">
                <a:ea typeface="Open Sans" pitchFamily="2" charset="0"/>
                <a:cs typeface="Open Sans" pitchFamily="2" charset="0"/>
              </a:rPr>
              <a:t>($ in millions, unless otherwise indicated)</a:t>
            </a:r>
          </a:p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endParaRPr lang="en-US" sz="1800" b="1" dirty="0"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DAB98-DF35-EBB4-BED7-F15FDC109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35570"/>
            <a:ext cx="761288" cy="27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41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AAD805F0-2F61-DF42-A7E0-810AE3B35B6D}"/>
              </a:ext>
            </a:extLst>
          </p:cNvPr>
          <p:cNvSpPr txBox="1"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 bwMode="gray">
          <a:xfrm>
            <a:off x="649202" y="3546851"/>
            <a:ext cx="8226425" cy="350865"/>
          </a:xfrm>
          <a:prstGeom prst="rect">
            <a:avLst/>
          </a:prstGeom>
          <a:noFill/>
          <a:ln w="9525" algn="ctr">
            <a:noFill/>
            <a:prstDash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3175" indent="0" algn="l" defTabSz="101917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None/>
              <a:defRPr lang="en-US" sz="1800" b="1">
                <a:solidFill>
                  <a:srgbClr val="004010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517525" marR="0" lvl="0" indent="-514350" algn="l" defTabSz="1019175" rtl="0" eaLnBrk="1" fontAlgn="base" latinLnBrk="0" hangingPunct="1">
              <a:lnSpc>
                <a:spcPct val="95000"/>
              </a:lnSpc>
              <a:spcBef>
                <a:spcPct val="35000"/>
              </a:spcBef>
              <a:spcAft>
                <a:spcPts val="800"/>
              </a:spcAft>
              <a:buSzPct val="100000"/>
              <a:buFont typeface="+mj-lt"/>
              <a:buAutoNum type="romanUcPeriod" startAt="2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</a:rPr>
              <a:t>Fish Reef Project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FB88FD-3675-37AC-918A-2AA0A23DA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162800"/>
            <a:ext cx="1219200" cy="1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8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4732338" y="7167724"/>
            <a:ext cx="593725" cy="147476"/>
          </a:xfrm>
          <a:noFill/>
        </p:spPr>
        <p:txBody>
          <a:bodyPr/>
          <a:lstStyle>
            <a:lvl1pPr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C0762617-0C67-475A-A748-6E85CA3A9A01}" type="slidenum">
              <a:rPr lang="en-US" sz="1000"/>
              <a:pPr eaLnBrk="1" hangingPunct="1"/>
              <a:t>13</a:t>
            </a:fld>
            <a:endParaRPr lang="en-US" sz="1000" dirty="0"/>
          </a:p>
        </p:txBody>
      </p:sp>
      <p:sp>
        <p:nvSpPr>
          <p:cNvPr id="13" name="_Section_Name">
            <a:extLst>
              <a:ext uri="{FF2B5EF4-FFF2-40B4-BE49-F238E27FC236}">
                <a16:creationId xmlns:a16="http://schemas.microsoft.com/office/drawing/2014/main" id="{27AADBE7-98D4-DA49-8C7C-F74B80411EB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57200" y="547688"/>
            <a:ext cx="91408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/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/>
              <a:t>Fish Reef Project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BBF212E-194F-FD03-18A1-44CDD54CD2C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55613" y="969952"/>
            <a:ext cx="9140825" cy="40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91440">
            <a:spAutoFit/>
          </a:bodyPr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>
                <a:ea typeface="Open Sans" pitchFamily="2" charset="0"/>
                <a:cs typeface="Open Sans" pitchFamily="2" charset="0"/>
              </a:rPr>
              <a:t>              Summary Profile 	</a:t>
            </a:r>
            <a:r>
              <a:rPr lang="en-US" sz="1200" b="1" i="1" dirty="0">
                <a:ea typeface="Open Sans" pitchFamily="2" charset="0"/>
                <a:cs typeface="Open Sans" pitchFamily="2" charset="0"/>
              </a:rPr>
              <a:t>($ in thousands, unless otherwise indicated)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FC35C-C231-3C61-6A9D-08926AAEBD4B}"/>
              </a:ext>
            </a:extLst>
          </p:cNvPr>
          <p:cNvSpPr txBox="1"/>
          <p:nvPr/>
        </p:nvSpPr>
        <p:spPr>
          <a:xfrm>
            <a:off x="5149249" y="2711824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Operational Footprint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D26EC-EC36-B7EB-015F-826FEE3A88EC}"/>
              </a:ext>
            </a:extLst>
          </p:cNvPr>
          <p:cNvSpPr txBox="1"/>
          <p:nvPr/>
        </p:nvSpPr>
        <p:spPr>
          <a:xfrm>
            <a:off x="457200" y="1641292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Business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9D1ED-0BCC-0843-FECD-B20102588745}"/>
              </a:ext>
            </a:extLst>
          </p:cNvPr>
          <p:cNvSpPr txBox="1"/>
          <p:nvPr/>
        </p:nvSpPr>
        <p:spPr>
          <a:xfrm>
            <a:off x="457200" y="4388224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Indicative Summary Financials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79BE8-6C72-6520-5631-3DA5660562E6}"/>
              </a:ext>
            </a:extLst>
          </p:cNvPr>
          <p:cNvSpPr txBox="1"/>
          <p:nvPr/>
        </p:nvSpPr>
        <p:spPr>
          <a:xfrm>
            <a:off x="5164172" y="5029200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Management &amp; Shareholders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5BDD7E-A7C8-4573-C450-C36C9FF1231D}"/>
              </a:ext>
            </a:extLst>
          </p:cNvPr>
          <p:cNvSpPr txBox="1">
            <a:spLocks/>
          </p:cNvSpPr>
          <p:nvPr/>
        </p:nvSpPr>
        <p:spPr bwMode="gray">
          <a:xfrm>
            <a:off x="455613" y="2005659"/>
            <a:ext cx="4447188" cy="11947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136927FF-F7D3-AC8E-A6C8-92132D8A31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75"/>
          <a:stretch/>
        </p:blipFill>
        <p:spPr>
          <a:xfrm>
            <a:off x="466738" y="816954"/>
            <a:ext cx="828662" cy="59767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53AC21-31EE-336A-BDA2-DED764679DD1}"/>
              </a:ext>
            </a:extLst>
          </p:cNvPr>
          <p:cNvSpPr txBox="1">
            <a:spLocks/>
          </p:cNvSpPr>
          <p:nvPr/>
        </p:nvSpPr>
        <p:spPr bwMode="gray">
          <a:xfrm>
            <a:off x="5145439" y="5358459"/>
            <a:ext cx="4447188" cy="11947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</a:pPr>
            <a:r>
              <a:rPr lang="en-US" sz="1200" kern="0" dirty="0">
                <a:solidFill>
                  <a:schemeClr val="tx1"/>
                </a:solidFill>
              </a:rPr>
              <a:t>100% owned by Chris Goldblatt and Management</a:t>
            </a:r>
          </a:p>
          <a:p>
            <a:pPr marL="173038" indent="-173038">
              <a:lnSpc>
                <a:spcPct val="100000"/>
              </a:lnSpc>
            </a:pPr>
            <a:r>
              <a:rPr lang="en-US" sz="1200" kern="0" dirty="0">
                <a:solidFill>
                  <a:schemeClr val="tx1"/>
                </a:solidFill>
              </a:rPr>
              <a:t>Chris Goldblatt, CEO (formerly OCS Sustainable Seafood)</a:t>
            </a:r>
          </a:p>
          <a:p>
            <a:pPr marL="173038" indent="-173038">
              <a:lnSpc>
                <a:spcPct val="100000"/>
              </a:lnSpc>
            </a:pPr>
            <a:r>
              <a:rPr lang="en-US" sz="1200" kern="0" dirty="0">
                <a:solidFill>
                  <a:schemeClr val="tx1"/>
                </a:solidFill>
              </a:rPr>
              <a:t>Dr. Ryan Jenkinson, Science &amp; Monitoring (National Geographic)</a:t>
            </a:r>
          </a:p>
          <a:p>
            <a:pPr marL="173038" indent="-173038">
              <a:lnSpc>
                <a:spcPct val="100000"/>
              </a:lnSpc>
            </a:pPr>
            <a:r>
              <a:rPr lang="en-US" sz="1200" kern="0" dirty="0">
                <a:solidFill>
                  <a:schemeClr val="tx1"/>
                </a:solidFill>
              </a:rPr>
              <a:t>Whinfell Partners, Interim CFO &amp; CIO</a:t>
            </a:r>
          </a:p>
          <a:p>
            <a:pPr marL="173038" indent="-173038">
              <a:lnSpc>
                <a:spcPct val="100000"/>
              </a:lnSpc>
            </a:pPr>
            <a:r>
              <a:rPr lang="en-US" sz="1200" kern="0" dirty="0">
                <a:solidFill>
                  <a:schemeClr val="tx1"/>
                </a:solidFill>
              </a:rPr>
              <a:t>Steven Chew, Director of Operations (formerly Curtin Maritime)</a:t>
            </a:r>
          </a:p>
          <a:p>
            <a:pPr marL="173038" indent="-173038">
              <a:lnSpc>
                <a:spcPct val="100000"/>
              </a:lnSpc>
            </a:pPr>
            <a:r>
              <a:rPr lang="en-US" sz="1200" kern="0" dirty="0">
                <a:solidFill>
                  <a:schemeClr val="tx1"/>
                </a:solidFill>
              </a:rPr>
              <a:t>Fred Doucedame, Marine Infrastructure (formerly Steve P Rados)</a:t>
            </a: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  <a:p>
            <a:pPr marL="173038" indent="-173038">
              <a:lnSpc>
                <a:spcPct val="100000"/>
              </a:lnSpc>
              <a:spcAft>
                <a:spcPts val="10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A7213F-28F3-7AC8-1673-9AE6C2843B6F}"/>
              </a:ext>
            </a:extLst>
          </p:cNvPr>
          <p:cNvSpPr txBox="1"/>
          <p:nvPr/>
        </p:nvSpPr>
        <p:spPr>
          <a:xfrm>
            <a:off x="381000" y="6916579"/>
            <a:ext cx="91565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ea typeface="Open Sans" panose="020B0606030504020204" pitchFamily="34" charset="0"/>
                <a:cs typeface="Open Sans" panose="020B0606030504020204" pitchFamily="34" charset="0"/>
              </a:rPr>
              <a:t>Source:  Fish Reef Management (Jan-23)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CE8AD2B-0B21-6894-6B3F-FB9F194E9321}"/>
              </a:ext>
            </a:extLst>
          </p:cNvPr>
          <p:cNvSpPr txBox="1">
            <a:spLocks/>
          </p:cNvSpPr>
          <p:nvPr/>
        </p:nvSpPr>
        <p:spPr bwMode="gray">
          <a:xfrm>
            <a:off x="437191" y="1953059"/>
            <a:ext cx="4447188" cy="17505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2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Non-profit that has developed and begun to deploy biogenic sea cave technology to regenerate underwater biomass</a:t>
            </a:r>
          </a:p>
          <a:p>
            <a:pPr marL="346075" lvl="1" indent="-169863">
              <a:lnSpc>
                <a:spcPct val="100000"/>
              </a:lnSpc>
              <a:spcAft>
                <a:spcPts val="2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Sea caves create optimal habitat for marine life</a:t>
            </a:r>
          </a:p>
          <a:p>
            <a:pPr marL="346075" lvl="1" indent="-169863">
              <a:lnSpc>
                <a:spcPct val="100000"/>
              </a:lnSpc>
              <a:spcAft>
                <a:spcPts val="2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Each sea cave supports 500 kg of marine life and removes up to 4 tonnes CO</a:t>
            </a:r>
            <a:r>
              <a:rPr lang="en-US" sz="1200" kern="0" baseline="-25000" dirty="0">
                <a:solidFill>
                  <a:schemeClr val="tx1"/>
                </a:solidFill>
              </a:rPr>
              <a:t>2</a:t>
            </a:r>
            <a:r>
              <a:rPr lang="en-US" sz="1200" kern="0" dirty="0">
                <a:solidFill>
                  <a:schemeClr val="tx1"/>
                </a:solidFill>
              </a:rPr>
              <a:t>/year as blue carbon</a:t>
            </a:r>
          </a:p>
          <a:p>
            <a:pPr marL="346075" lvl="1" indent="-169863">
              <a:lnSpc>
                <a:spcPct val="100000"/>
              </a:lnSpc>
              <a:spcAft>
                <a:spcPts val="6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Enhances nearshore fisheries production through regeneration of kelp forests and coral reefs; kelp grows at 12-18”/day</a:t>
            </a:r>
          </a:p>
          <a:p>
            <a:pPr marL="173038" indent="-173038">
              <a:lnSpc>
                <a:spcPct val="100000"/>
              </a:lnSpc>
              <a:spcAft>
                <a:spcPts val="2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Goal is to create 10 plants to serve as regional hubs worldwide</a:t>
            </a:r>
          </a:p>
          <a:p>
            <a:pPr marL="346075" lvl="1" indent="-169863">
              <a:lnSpc>
                <a:spcPct val="100000"/>
              </a:lnSpc>
              <a:spcAft>
                <a:spcPts val="2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Each plant will deploy up to 30,000 sea caves per year</a:t>
            </a:r>
          </a:p>
          <a:p>
            <a:pPr marL="346075" lvl="1" indent="-169863">
              <a:lnSpc>
                <a:spcPct val="100000"/>
              </a:lnSpc>
              <a:spcAft>
                <a:spcPts val="6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Proprietary mold designed to facilitate mass production</a:t>
            </a:r>
          </a:p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Permanent Observer status at UN Seabed Authority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43DA6F-9F8A-71A3-5A03-82999FF2D0B1}"/>
              </a:ext>
            </a:extLst>
          </p:cNvPr>
          <p:cNvSpPr txBox="1"/>
          <p:nvPr/>
        </p:nvSpPr>
        <p:spPr>
          <a:xfrm>
            <a:off x="5181600" y="1645024"/>
            <a:ext cx="4447188" cy="336176"/>
          </a:xfrm>
          <a:prstGeom prst="rect">
            <a:avLst/>
          </a:prstGeom>
          <a:solidFill>
            <a:srgbClr val="004010"/>
          </a:solidFill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Blue Carbon Credit Opportunity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7DACB18-9CD0-6C6B-9ADD-7069F86FD99F}"/>
              </a:ext>
            </a:extLst>
          </p:cNvPr>
          <p:cNvSpPr txBox="1">
            <a:spLocks/>
          </p:cNvSpPr>
          <p:nvPr/>
        </p:nvSpPr>
        <p:spPr bwMode="gray">
          <a:xfrm>
            <a:off x="5145440" y="3035867"/>
            <a:ext cx="3388232" cy="19933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Current:  Baja, Mexico </a:t>
            </a:r>
          </a:p>
          <a:p>
            <a:pPr marL="346075" lvl="1" indent="-169863">
              <a:lnSpc>
                <a:spcPct val="100000"/>
              </a:lnSpc>
              <a:spcAft>
                <a:spcPts val="2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55-acre Seabed Lease at Isla San Martin</a:t>
            </a:r>
          </a:p>
          <a:p>
            <a:pPr marL="346075" lvl="1" indent="-169863">
              <a:lnSpc>
                <a:spcPct val="100000"/>
              </a:lnSpc>
              <a:spcAft>
                <a:spcPts val="2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Fits 27,000 Sea Caves</a:t>
            </a:r>
          </a:p>
          <a:p>
            <a:pPr marL="346075" lvl="1" indent="-169863">
              <a:lnSpc>
                <a:spcPct val="100000"/>
              </a:lnSpc>
              <a:spcAft>
                <a:spcPts val="6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Strong local support from fishing co-op</a:t>
            </a:r>
          </a:p>
          <a:p>
            <a:pPr marL="173038" indent="-173038">
              <a:lnSpc>
                <a:spcPct val="100000"/>
              </a:lnSpc>
              <a:spcAft>
                <a:spcPts val="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Selected Planned:  </a:t>
            </a:r>
          </a:p>
          <a:p>
            <a:pPr marL="346075" lvl="1" indent="-169863">
              <a:lnSpc>
                <a:spcPct val="100000"/>
              </a:lnSpc>
              <a:spcAft>
                <a:spcPts val="2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Rincon Island, Ventura County, California</a:t>
            </a:r>
          </a:p>
          <a:p>
            <a:pPr marL="346075" lvl="1" indent="-169863">
              <a:lnSpc>
                <a:spcPct val="100000"/>
              </a:lnSpc>
              <a:spcAft>
                <a:spcPts val="20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Decommissioned oil assets, Goleta, California</a:t>
            </a:r>
          </a:p>
          <a:p>
            <a:pPr marL="346075" lvl="1" indent="-169863">
              <a:lnSpc>
                <a:spcPct val="100000"/>
              </a:lnSpc>
              <a:spcAft>
                <a:spcPts val="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Various African countries (e.g., Senegal)</a:t>
            </a:r>
          </a:p>
          <a:p>
            <a:pPr marL="346075" lvl="1" indent="-169863">
              <a:lnSpc>
                <a:spcPct val="100000"/>
              </a:lnSpc>
              <a:spcAft>
                <a:spcPts val="0"/>
              </a:spcAft>
              <a:buSzPct val="75000"/>
            </a:pPr>
            <a:r>
              <a:rPr lang="en-US" sz="1200" kern="0" dirty="0">
                <a:solidFill>
                  <a:schemeClr val="tx1"/>
                </a:solidFill>
              </a:rPr>
              <a:t>Papua New Guinea</a:t>
            </a:r>
          </a:p>
          <a:p>
            <a:pPr marL="571500" lvl="1" indent="-173038">
              <a:lnSpc>
                <a:spcPct val="100000"/>
              </a:lnSpc>
              <a:spcAft>
                <a:spcPts val="600"/>
              </a:spcAft>
            </a:pPr>
            <a:endParaRPr lang="en-US" sz="1200" kern="0" dirty="0">
              <a:solidFill>
                <a:schemeClr val="tx1"/>
              </a:solidFill>
            </a:endParaRPr>
          </a:p>
          <a:p>
            <a:pPr marL="173038" indent="-173038">
              <a:lnSpc>
                <a:spcPct val="100000"/>
              </a:lnSpc>
              <a:spcAft>
                <a:spcPts val="600"/>
              </a:spcAft>
            </a:pPr>
            <a:endParaRPr lang="en-US" sz="1200" kern="0" dirty="0">
              <a:solidFill>
                <a:schemeClr val="tx1"/>
              </a:solidFill>
            </a:endParaRPr>
          </a:p>
        </p:txBody>
      </p:sp>
      <p:pic>
        <p:nvPicPr>
          <p:cNvPr id="29" name="Content Placeholder 4" descr="A picture containing person&#10;&#10;Description automatically generated">
            <a:extLst>
              <a:ext uri="{FF2B5EF4-FFF2-40B4-BE49-F238E27FC236}">
                <a16:creationId xmlns:a16="http://schemas.microsoft.com/office/drawing/2014/main" id="{4D11A4AA-1DEA-07ED-9B2E-1413169CC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 b="-2"/>
          <a:stretch/>
        </p:blipFill>
        <p:spPr>
          <a:xfrm rot="5400000">
            <a:off x="8081030" y="3393096"/>
            <a:ext cx="1821139" cy="1219200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93D3033-8118-113A-93EF-A75D12357264}"/>
              </a:ext>
            </a:extLst>
          </p:cNvPr>
          <p:cNvSpPr txBox="1">
            <a:spLocks/>
          </p:cNvSpPr>
          <p:nvPr/>
        </p:nvSpPr>
        <p:spPr bwMode="gray">
          <a:xfrm>
            <a:off x="5145440" y="1953059"/>
            <a:ext cx="4447188" cy="6800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2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20,000-sea cave project could sequester up to 53,000 tonnes of blue carbon per year (~$20mm capex) at cost of $1,500/cave</a:t>
            </a:r>
          </a:p>
          <a:p>
            <a:pPr marL="173038" indent="-173038">
              <a:lnSpc>
                <a:spcPct val="100000"/>
              </a:lnSpc>
              <a:spcAft>
                <a:spcPts val="2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ICR registration to be completed by late 2023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AA00D1F-C2A9-08E0-525C-9380B0425A59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481553" y="4739357"/>
            <a:ext cx="4412676" cy="218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52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AAD805F0-2F61-DF42-A7E0-810AE3B35B6D}"/>
              </a:ext>
            </a:extLst>
          </p:cNvPr>
          <p:cNvSpPr txBox="1"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 bwMode="gray">
          <a:xfrm>
            <a:off x="649202" y="3546851"/>
            <a:ext cx="8226425" cy="350865"/>
          </a:xfrm>
          <a:prstGeom prst="rect">
            <a:avLst/>
          </a:prstGeom>
          <a:noFill/>
          <a:ln w="9525" algn="ctr">
            <a:noFill/>
            <a:prstDash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3175" indent="0" algn="l" defTabSz="1019175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None/>
              <a:defRPr lang="en-US" sz="1800" b="1">
                <a:solidFill>
                  <a:srgbClr val="004010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517525" marR="0" lvl="0" indent="-514350" algn="l" defTabSz="1019175" rtl="0" eaLnBrk="1" fontAlgn="base" latinLnBrk="0" hangingPunct="1">
              <a:lnSpc>
                <a:spcPct val="95000"/>
              </a:lnSpc>
              <a:spcBef>
                <a:spcPct val="35000"/>
              </a:spcBef>
              <a:spcAft>
                <a:spcPts val="800"/>
              </a:spcAft>
              <a:buSzPct val="100000"/>
              <a:buFont typeface="+mj-lt"/>
              <a:buAutoNum type="romanUcPeriod" startAt="3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</a:rPr>
              <a:t>Baja Project Investment Perspectives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FB88FD-3675-37AC-918A-2AA0A23DA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162800"/>
            <a:ext cx="1219200" cy="1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39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4732338" y="7167724"/>
            <a:ext cx="593725" cy="147476"/>
          </a:xfrm>
          <a:noFill/>
        </p:spPr>
        <p:txBody>
          <a:bodyPr/>
          <a:lstStyle>
            <a:lvl1pPr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C0762617-0C67-475A-A748-6E85CA3A9A01}" type="slidenum">
              <a:rPr lang="en-US" sz="1000"/>
              <a:pPr eaLnBrk="1" hangingPunct="1"/>
              <a:t>15</a:t>
            </a:fld>
            <a:endParaRPr lang="en-US" sz="1000" dirty="0"/>
          </a:p>
        </p:txBody>
      </p:sp>
      <p:sp>
        <p:nvSpPr>
          <p:cNvPr id="13" name="_Section_Name">
            <a:extLst>
              <a:ext uri="{FF2B5EF4-FFF2-40B4-BE49-F238E27FC236}">
                <a16:creationId xmlns:a16="http://schemas.microsoft.com/office/drawing/2014/main" id="{27AADBE7-98D4-DA49-8C7C-F74B80411EB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57200" y="547688"/>
            <a:ext cx="91408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/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/>
              <a:t>IGP Methanol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BBF212E-194F-FD03-18A1-44CDD54CD2C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55613" y="969952"/>
            <a:ext cx="9140825" cy="401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91440">
            <a:spAutoFit/>
          </a:bodyPr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>
                <a:ea typeface="Open Sans" pitchFamily="2" charset="0"/>
                <a:cs typeface="Open Sans" pitchFamily="2" charset="0"/>
              </a:rPr>
              <a:t>Summary Profile 	</a:t>
            </a:r>
            <a:r>
              <a:rPr lang="en-US" sz="1200" b="1" i="1" dirty="0">
                <a:ea typeface="Open Sans" pitchFamily="2" charset="0"/>
                <a:cs typeface="Open Sans" pitchFamily="2" charset="0"/>
              </a:rPr>
              <a:t>($ in millions, unless otherwise indicated)</a:t>
            </a:r>
            <a:endParaRPr lang="en-US" sz="1200" b="1" dirty="0">
              <a:ea typeface="Open Sans" pitchFamily="2" charset="0"/>
              <a:cs typeface="Open 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D26EC-EC36-B7EB-015F-826FEE3A88EC}"/>
              </a:ext>
            </a:extLst>
          </p:cNvPr>
          <p:cNvSpPr txBox="1"/>
          <p:nvPr/>
        </p:nvSpPr>
        <p:spPr>
          <a:xfrm>
            <a:off x="457200" y="1393691"/>
            <a:ext cx="4447188" cy="274320"/>
          </a:xfrm>
          <a:prstGeom prst="rect">
            <a:avLst/>
          </a:prstGeom>
          <a:solidFill>
            <a:srgbClr val="004010"/>
          </a:solidFill>
          <a:ln>
            <a:noFill/>
          </a:ln>
        </p:spPr>
        <p:txBody>
          <a:bodyPr wrap="square" tIns="80682" bIns="80682" rtlCol="0" anchor="ctr" anchorCtr="1">
            <a:noAutofit/>
          </a:bodyPr>
          <a:lstStyle/>
          <a:p>
            <a:pPr algn="ctr"/>
            <a:r>
              <a:rPr lang="en-US" sz="1200" b="1" cap="small" dirty="0">
                <a:solidFill>
                  <a:schemeClr val="bg1"/>
                </a:solidFill>
              </a:rPr>
              <a:t>Business Description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59686FF-03AD-2BE0-4515-21443937CA2F}"/>
              </a:ext>
            </a:extLst>
          </p:cNvPr>
          <p:cNvSpPr txBox="1">
            <a:spLocks/>
          </p:cNvSpPr>
          <p:nvPr/>
        </p:nvSpPr>
        <p:spPr bwMode="gray">
          <a:xfrm>
            <a:off x="455613" y="1600200"/>
            <a:ext cx="4447188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marL="287338" indent="-28733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pitchFamily="2" charset="2"/>
              <a:buChar char="n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1pPr>
            <a:lvl2pPr marL="685800" indent="-280988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–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2pPr>
            <a:lvl3pPr marL="10287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SzPct val="75000"/>
              <a:buFont typeface="Wingdings" charset="2"/>
              <a:buChar char="§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004010"/>
              </a:buClr>
              <a:buFont typeface="Garamond" pitchFamily="18" charset="0"/>
              <a:buChar char="−"/>
              <a:defRPr lang="en-US" sz="140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4pPr>
            <a:lvl5pPr marL="1657350" indent="-171450" algn="l" defTabSz="1019175" rtl="0" eaLnBrk="1" fontAlgn="base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Wingdings" pitchFamily="2" charset="2"/>
              <a:buChar char="§"/>
              <a:defRPr lang="en-US" sz="1400" dirty="0" smtClean="0">
                <a:solidFill>
                  <a:srgbClr val="004010"/>
                </a:solidFill>
                <a:latin typeface="+mn-lt"/>
                <a:ea typeface="+mn-ea"/>
                <a:cs typeface="+mn-cs"/>
              </a:defRPr>
            </a:lvl5pPr>
            <a:lvl6pPr marL="21145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6pPr>
            <a:lvl7pPr marL="25717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7pPr>
            <a:lvl8pPr marL="30289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8pPr>
            <a:lvl9pPr marL="3486150" indent="-171450" algn="l" defTabSz="1019175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173038" indent="-173038">
              <a:lnSpc>
                <a:spcPct val="100000"/>
              </a:lnSpc>
              <a:spcAft>
                <a:spcPts val="400"/>
              </a:spcAft>
            </a:pPr>
            <a:r>
              <a:rPr lang="en-US" sz="1200" kern="0" dirty="0">
                <a:solidFill>
                  <a:schemeClr val="tx1"/>
                </a:solidFill>
              </a:rPr>
              <a:t>[ ]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F2F6B0-FDD2-C38F-DCB3-7BBE9E63373C}"/>
              </a:ext>
            </a:extLst>
          </p:cNvPr>
          <p:cNvSpPr txBox="1"/>
          <p:nvPr/>
        </p:nvSpPr>
        <p:spPr>
          <a:xfrm>
            <a:off x="381000" y="6916579"/>
            <a:ext cx="91565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ea typeface="Open Sans" panose="020B0606030504020204" pitchFamily="34" charset="0"/>
                <a:cs typeface="Open Sans" panose="020B0606030504020204" pitchFamily="34" charset="0"/>
              </a:rPr>
              <a:t>Source:  IGP Management (Nov-22)</a:t>
            </a:r>
          </a:p>
        </p:txBody>
      </p:sp>
    </p:spTree>
    <p:extLst>
      <p:ext uri="{BB962C8B-B14F-4D97-AF65-F5344CB8AC3E}">
        <p14:creationId xmlns:p14="http://schemas.microsoft.com/office/powerpoint/2010/main" val="9121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_Section_Name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457200" y="547688"/>
            <a:ext cx="9140825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91418" rIns="91429" bIns="45715" anchor="b"/>
          <a:lstStyle/>
          <a:p>
            <a:pPr defTabSz="1019175">
              <a:lnSpc>
                <a:spcPct val="95000"/>
              </a:lnSpc>
              <a:tabLst>
                <a:tab pos="8956675" algn="r"/>
              </a:tabLst>
            </a:pPr>
            <a:r>
              <a:rPr lang="en-US" sz="1800" b="1" dirty="0"/>
              <a:t>Contact Information </a:t>
            </a:r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4732338" y="7167724"/>
            <a:ext cx="593725" cy="147476"/>
          </a:xfrm>
          <a:noFill/>
        </p:spPr>
        <p:txBody>
          <a:bodyPr/>
          <a:lstStyle>
            <a:lvl1pPr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1pPr>
            <a:lvl2pPr marL="742950" indent="-28575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2pPr>
            <a:lvl3pPr marL="11430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3pPr>
            <a:lvl4pPr marL="16002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4pPr>
            <a:lvl5pPr marL="2057400" indent="-228600" defTabSz="1019175" eaLnBrk="0" hangingPunct="0">
              <a:defRPr sz="2000">
                <a:solidFill>
                  <a:schemeClr val="tx1"/>
                </a:solidFill>
                <a:latin typeface="Garamond" pitchFamily="18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pPr eaLnBrk="1" hangingPunct="1"/>
            <a:fld id="{C0762617-0C67-475A-A748-6E85CA3A9A01}" type="slidenum">
              <a:rPr lang="en-US" sz="1000"/>
              <a:pPr eaLnBrk="1" hangingPunct="1"/>
              <a:t>16</a:t>
            </a:fld>
            <a:endParaRPr lang="en-US" sz="1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55295-D754-044E-8866-C0D39631F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3600"/>
            <a:ext cx="9139238" cy="495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Clark Thornburgh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clark@whinfellcap.com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+1 (917) 703-5198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Chicago Mercantile Exchange Center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30 S. Wacker Dr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Chicago, IL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60606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sz="1700" dirty="0">
              <a:solidFill>
                <a:schemeClr val="tx1"/>
              </a:solidFill>
            </a:endParaRPr>
          </a:p>
          <a:p>
            <a:pPr marL="0" indent="0">
              <a:spcAft>
                <a:spcPts val="2200"/>
              </a:spcAft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spcAft>
                <a:spcPts val="2200"/>
              </a:spcAft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spcAft>
                <a:spcPts val="2200"/>
              </a:spcAft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spcAft>
                <a:spcPts val="2200"/>
              </a:spcAft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404812" lvl="1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6960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Rectangle 5"/>
  <p:tag name="FORMATSSLIDEID" val="380"/>
  <p:tag name="FORMATSFILENAME" val="Standard Slides.pot"/>
  <p:tag name="POSITIONSHAPE" val="Rectangle 5"/>
  <p:tag name="POSITIONSLIDEID" val="380"/>
  <p:tag name="SIZESHAPE" val="Rectangle 5"/>
  <p:tag name="SIZESLIDEID" val="38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Line 7"/>
  <p:tag name="FORMATSSLIDEID" val="380"/>
  <p:tag name="FORMATSFILENAME" val="Standard Slides.pot"/>
  <p:tag name="POSITIONSHAPE" val="Line 7"/>
  <p:tag name="POSITIONSLIDEID" val="380"/>
  <p:tag name="SIZESHAPE" val="Line 7"/>
  <p:tag name="SIZESLIDEID" val="38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Rectangle 5"/>
  <p:tag name="FORMATSSLIDEID" val="380"/>
  <p:tag name="FORMATSFILENAME" val="Standard Slides.pot"/>
  <p:tag name="POSITIONSHAPE" val="Rectangle 5"/>
  <p:tag name="POSITIONSLIDEID" val="380"/>
  <p:tag name="SIZESHAPE" val="Rectangle 5"/>
  <p:tag name="SIZESLIDEID" val="38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OLDSSECTIONTAB" val="False"/>
  <p:tag name="HOLDSSUBTITLE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Rectangle 5"/>
  <p:tag name="FORMATSSLIDEID" val="380"/>
  <p:tag name="FORMATSFILENAME" val="Standard Slides.pot"/>
  <p:tag name="POSITIONSHAPE" val="Rectangle 5"/>
  <p:tag name="POSITIONSLIDEID" val="380"/>
  <p:tag name="SIZESHAPE" val="Rectangle 5"/>
  <p:tag name="SIZESLIDEID" val="38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Rectangle 2"/>
  <p:tag name="FORMATSSLIDEID" val="413"/>
  <p:tag name="FORMATSFILENAME" val="Standard Slides.pot"/>
  <p:tag name="POSITIONSHAPE" val="Rectangle 2"/>
  <p:tag name="POSITIONSLIDEID" val="413"/>
  <p:tag name="SIZESHAPE" val="Rectangle 2"/>
  <p:tag name="SIZESLIDEID" val="41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Rectangle 2"/>
  <p:tag name="FORMATSSLIDEID" val="413"/>
  <p:tag name="FORMATSFILENAME" val="Standard Slides.pot"/>
  <p:tag name="POSITIONSHAPE" val="Rectangle 2"/>
  <p:tag name="POSITIONSLIDEID" val="413"/>
  <p:tag name="SIZESHAPE" val="Rectangle 2"/>
  <p:tag name="SIZESLIDEID" val="41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Rectangle 2"/>
  <p:tag name="FORMATSSLIDEID" val="413"/>
  <p:tag name="FORMATSFILENAME" val="Standard Slides.pot"/>
  <p:tag name="POSITIONSHAPE" val="Rectangle 2"/>
  <p:tag name="POSITIONSLIDEID" val="413"/>
  <p:tag name="SIZESHAPE" val="Rectangle 2"/>
  <p:tag name="SIZESLIDEID" val="41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Slide Number Placeholder 3"/>
  <p:tag name="FORMATSSLIDEID" val="449"/>
  <p:tag name="FORMATSFILENAME" val="Standard Slides.pot"/>
  <p:tag name="POSITIONSHAPE" val="Slide Number Placeholder 3"/>
  <p:tag name="POSITIONSLIDEID" val="449"/>
  <p:tag name="SIZESHAPE" val="Slide Number Placeholder 3"/>
  <p:tag name="SIZESLIDEID" val="44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OLDSSECTIONTAB" val="False"/>
  <p:tag name="HOLDSSUBTITLE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FILENAME" val="Standard Slides.pot"/>
  <p:tag name="HOLDSSECTIONTAB" val="False"/>
  <p:tag name="FORMATSSHAPE" val="Rectangle 2"/>
  <p:tag name="FORMATSSLIDEID" val="449"/>
  <p:tag name="POSITIONSHAPE" val="Rectangle 2"/>
  <p:tag name="POSITIONSLIDEID" val="449"/>
  <p:tag name="SIZESHAPE" val="Rectangle 2"/>
  <p:tag name="SIZESLIDEID" val="44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Slide Number Placeholder 3"/>
  <p:tag name="FORMATSSLIDEID" val="449"/>
  <p:tag name="FORMATSFILENAME" val="Standard Slides.pot"/>
  <p:tag name="POSITIONSHAPE" val="Slide Number Placeholder 3"/>
  <p:tag name="POSITIONSLIDEID" val="449"/>
  <p:tag name="SIZESHAPE" val="Slide Number Placeholder 3"/>
  <p:tag name="SIZESLIDEID" val="44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OLDSSECTIONTAB" val="False"/>
  <p:tag name="HOLDSSUBTITLE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FILENAME" val="Standard Slides.pot"/>
  <p:tag name="HOLDSSECTIONTAB" val="False"/>
  <p:tag name="FORMATSSHAPE" val="Rectangle 2"/>
  <p:tag name="FORMATSSLIDEID" val="449"/>
  <p:tag name="POSITIONSHAPE" val="Rectangle 2"/>
  <p:tag name="POSITIONSLIDEID" val="449"/>
  <p:tag name="SIZESHAPE" val="Rectangle 2"/>
  <p:tag name="SIZESLIDEID" val="44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Slide Number Placeholder 3"/>
  <p:tag name="FORMATSSLIDEID" val="449"/>
  <p:tag name="FORMATSFILENAME" val="Standard Slides.pot"/>
  <p:tag name="POSITIONSHAPE" val="Slide Number Placeholder 3"/>
  <p:tag name="POSITIONSLIDEID" val="449"/>
  <p:tag name="SIZESHAPE" val="Slide Number Placeholder 3"/>
  <p:tag name="SIZESLIDEID" val="44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OLDSSECTIONTAB" val="False"/>
  <p:tag name="HOLDSSUBTITLE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FILENAME" val="Standard Slides.pot"/>
  <p:tag name="HOLDSSECTIONTAB" val="False"/>
  <p:tag name="FORMATSSHAPE" val="Rectangle 2"/>
  <p:tag name="FORMATSSLIDEID" val="449"/>
  <p:tag name="POSITIONSHAPE" val="Rectangle 2"/>
  <p:tag name="POSITIONSLIDEID" val="449"/>
  <p:tag name="SIZESHAPE" val="Rectangle 2"/>
  <p:tag name="SIZESLIDEID" val="44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Rectangle 5"/>
  <p:tag name="FORMATSSLIDEID" val="380"/>
  <p:tag name="FORMATSFILENAME" val="Standard Slides.pot"/>
  <p:tag name="POSITIONSHAPE" val="Rectangle 5"/>
  <p:tag name="POSITIONSLIDEID" val="380"/>
  <p:tag name="SIZESHAPE" val="Rectangle 5"/>
  <p:tag name="SIZESLIDEID" val="38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Slide Number Placeholder 3"/>
  <p:tag name="FORMATSSLIDEID" val="449"/>
  <p:tag name="FORMATSFILENAME" val="Standard Slides.pot"/>
  <p:tag name="POSITIONSHAPE" val="Slide Number Placeholder 3"/>
  <p:tag name="POSITIONSLIDEID" val="449"/>
  <p:tag name="SIZESHAPE" val="Slide Number Placeholder 3"/>
  <p:tag name="SIZESLIDEID" val="44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OLDSSECTIONTAB" val="False"/>
  <p:tag name="HOLDSSUBTITLE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FILENAME" val="Standard Slides.pot"/>
  <p:tag name="HOLDSSECTIONTAB" val="False"/>
  <p:tag name="FORMATSSHAPE" val="Rectangle 2"/>
  <p:tag name="FORMATSSLIDEID" val="449"/>
  <p:tag name="POSITIONSHAPE" val="Rectangle 2"/>
  <p:tag name="POSITIONSLIDEID" val="449"/>
  <p:tag name="SIZESHAPE" val="Rectangle 2"/>
  <p:tag name="SIZESLIDEID" val="44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Slide Number Placeholder 3"/>
  <p:tag name="FORMATSSLIDEID" val="449"/>
  <p:tag name="FORMATSFILENAME" val="Standard Slides.pot"/>
  <p:tag name="POSITIONSHAPE" val="Slide Number Placeholder 3"/>
  <p:tag name="POSITIONSLIDEID" val="449"/>
  <p:tag name="SIZESHAPE" val="Slide Number Placeholder 3"/>
  <p:tag name="SIZESLIDEID" val="44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OLDSSECTIONTAB" val="False"/>
  <p:tag name="HOLDSSUBTITLE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FILENAME" val="Standard Slides.pot"/>
  <p:tag name="HOLDSSECTIONTAB" val="False"/>
  <p:tag name="FORMATSSHAPE" val="Rectangle 2"/>
  <p:tag name="FORMATSSLIDEID" val="449"/>
  <p:tag name="POSITIONSHAPE" val="Rectangle 2"/>
  <p:tag name="POSITIONSLIDEID" val="449"/>
  <p:tag name="SIZESHAPE" val="Rectangle 2"/>
  <p:tag name="SIZESLIDEID" val="44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Rectangle 5"/>
  <p:tag name="FORMATSSLIDEID" val="380"/>
  <p:tag name="FORMATSFILENAME" val="Standard Slides.pot"/>
  <p:tag name="POSITIONSHAPE" val="Rectangle 5"/>
  <p:tag name="POSITIONSLIDEID" val="380"/>
  <p:tag name="SIZESHAPE" val="Rectangle 5"/>
  <p:tag name="SIZESLIDEID" val="38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Slide Number Placeholder 3"/>
  <p:tag name="FORMATSSLIDEID" val="449"/>
  <p:tag name="FORMATSFILENAME" val="Standard Slides.pot"/>
  <p:tag name="POSITIONSHAPE" val="Slide Number Placeholder 3"/>
  <p:tag name="POSITIONSLIDEID" val="449"/>
  <p:tag name="SIZESHAPE" val="Slide Number Placeholder 3"/>
  <p:tag name="SIZESLIDEID" val="44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OLDSSECTIONTAB" val="False"/>
  <p:tag name="HOLDSSUBTITLE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FILENAME" val="Standard Slides.pot"/>
  <p:tag name="HOLDSSECTIONTAB" val="False"/>
  <p:tag name="FORMATSSHAPE" val="Rectangle 2"/>
  <p:tag name="FORMATSSLIDEID" val="449"/>
  <p:tag name="POSITIONSHAPE" val="Rectangle 2"/>
  <p:tag name="POSITIONSLIDEID" val="449"/>
  <p:tag name="SIZESHAPE" val="Rectangle 2"/>
  <p:tag name="SIZESLIDEID" val="44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Rectangle 5"/>
  <p:tag name="FORMATSSLIDEID" val="380"/>
  <p:tag name="FORMATSFILENAME" val="Standard Slides.pot"/>
  <p:tag name="POSITIONSHAPE" val="Rectangle 5"/>
  <p:tag name="POSITIONSLIDEID" val="380"/>
  <p:tag name="SIZESHAPE" val="Rectangle 5"/>
  <p:tag name="SIZESLIDEID" val="38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Slide Number Placeholder 3"/>
  <p:tag name="FORMATSSLIDEID" val="449"/>
  <p:tag name="FORMATSFILENAME" val="Standard Slides.pot"/>
  <p:tag name="POSITIONSHAPE" val="Slide Number Placeholder 3"/>
  <p:tag name="POSITIONSLIDEID" val="449"/>
  <p:tag name="SIZESHAPE" val="Slide Number Placeholder 3"/>
  <p:tag name="SIZESLIDEID" val="44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OLDSSECTIONTAB" val="False"/>
  <p:tag name="HOLDSSUBTITLE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FILENAME" val="Standard Slides.pot"/>
  <p:tag name="HOLDSSECTIONTAB" val="False"/>
  <p:tag name="FORMATSSHAPE" val="Rectangle 2"/>
  <p:tag name="FORMATSSLIDEID" val="449"/>
  <p:tag name="POSITIONSHAPE" val="Rectangle 2"/>
  <p:tag name="POSITIONSLIDEID" val="449"/>
  <p:tag name="SIZESHAPE" val="Rectangle 2"/>
  <p:tag name="SIZESLIDEID" val="44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OLDSSECTIONTAB" val="False"/>
  <p:tag name="HOLDSSUBTITLE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SNALIGNVERT" val="True"/>
  <p:tag name="POSNALIGNHORIZ" val="True"/>
  <p:tag name="SIZEWIDTH" val="True"/>
  <p:tag name="SIZEHEIGHT" val="True"/>
  <p:tag name="FORMATSSHAPE" val="Slide Number Placeholder 3"/>
  <p:tag name="FORMATSSLIDEID" val="449"/>
  <p:tag name="FORMATSFILENAME" val="Standard Slides.pot"/>
  <p:tag name="POSITIONSHAPE" val="Slide Number Placeholder 3"/>
  <p:tag name="POSITIONSLIDEID" val="449"/>
  <p:tag name="SIZESHAPE" val="Slide Number Placeholder 3"/>
  <p:tag name="SIZESLIDEID" val="449"/>
</p:tagLst>
</file>

<file path=ppt/theme/theme1.xml><?xml version="1.0" encoding="utf-8"?>
<a:theme xmlns:a="http://schemas.openxmlformats.org/drawingml/2006/main" name="Blank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4010"/>
      </a:accent1>
      <a:accent2>
        <a:srgbClr val="6A97D4"/>
      </a:accent2>
      <a:accent3>
        <a:srgbClr val="FFFFFF"/>
      </a:accent3>
      <a:accent4>
        <a:srgbClr val="000000"/>
      </a:accent4>
      <a:accent5>
        <a:srgbClr val="ACB2C1"/>
      </a:accent5>
      <a:accent6>
        <a:srgbClr val="5F88C0"/>
      </a:accent6>
      <a:hlink>
        <a:srgbClr val="B7CDEB"/>
      </a:hlink>
      <a:folHlink>
        <a:srgbClr val="F0F0F0"/>
      </a:folHlink>
    </a:clrScheme>
    <a:fontScheme name="Standard Slides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andard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Slid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Slid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Slid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Slid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Slid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Slid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Slid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Slid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Slid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Slid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Slid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 Slides 13">
        <a:dk1>
          <a:srgbClr val="000000"/>
        </a:dk1>
        <a:lt1>
          <a:srgbClr val="FFFFFF"/>
        </a:lt1>
        <a:dk2>
          <a:srgbClr val="0E659A"/>
        </a:dk2>
        <a:lt2>
          <a:srgbClr val="808080"/>
        </a:lt2>
        <a:accent1>
          <a:srgbClr val="0E659A"/>
        </a:accent1>
        <a:accent2>
          <a:srgbClr val="F0F0F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D9D9D9"/>
        </a:accent6>
        <a:hlink>
          <a:srgbClr val="88BEBD"/>
        </a:hlink>
        <a:folHlink>
          <a:srgbClr val="31BD3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Slides 14">
        <a:dk1>
          <a:srgbClr val="000000"/>
        </a:dk1>
        <a:lt1>
          <a:srgbClr val="FFFFFF"/>
        </a:lt1>
        <a:dk2>
          <a:srgbClr val="1076B4"/>
        </a:dk2>
        <a:lt2>
          <a:srgbClr val="808080"/>
        </a:lt2>
        <a:accent1>
          <a:srgbClr val="1076B4"/>
        </a:accent1>
        <a:accent2>
          <a:srgbClr val="F0F0F0"/>
        </a:accent2>
        <a:accent3>
          <a:srgbClr val="FFFFFF"/>
        </a:accent3>
        <a:accent4>
          <a:srgbClr val="000000"/>
        </a:accent4>
        <a:accent5>
          <a:srgbClr val="AABDD6"/>
        </a:accent5>
        <a:accent6>
          <a:srgbClr val="D9D9D9"/>
        </a:accent6>
        <a:hlink>
          <a:srgbClr val="88CABD"/>
        </a:hlink>
        <a:folHlink>
          <a:srgbClr val="A77BF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Slides 15">
        <a:dk1>
          <a:srgbClr val="000000"/>
        </a:dk1>
        <a:lt1>
          <a:srgbClr val="FFFFFF"/>
        </a:lt1>
        <a:dk2>
          <a:srgbClr val="1076B4"/>
        </a:dk2>
        <a:lt2>
          <a:srgbClr val="969696"/>
        </a:lt2>
        <a:accent1>
          <a:srgbClr val="1076B4"/>
        </a:accent1>
        <a:accent2>
          <a:srgbClr val="F0F0F0"/>
        </a:accent2>
        <a:accent3>
          <a:srgbClr val="FFFFFF"/>
        </a:accent3>
        <a:accent4>
          <a:srgbClr val="000000"/>
        </a:accent4>
        <a:accent5>
          <a:srgbClr val="AABDD6"/>
        </a:accent5>
        <a:accent6>
          <a:srgbClr val="D9D9D9"/>
        </a:accent6>
        <a:hlink>
          <a:srgbClr val="88CABD"/>
        </a:hlink>
        <a:folHlink>
          <a:srgbClr val="A77BF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 Slides 16">
        <a:dk1>
          <a:srgbClr val="000000"/>
        </a:dk1>
        <a:lt1>
          <a:srgbClr val="FFFFFF"/>
        </a:lt1>
        <a:dk2>
          <a:srgbClr val="264D82"/>
        </a:dk2>
        <a:lt2>
          <a:srgbClr val="969696"/>
        </a:lt2>
        <a:accent1>
          <a:srgbClr val="264D82"/>
        </a:accent1>
        <a:accent2>
          <a:srgbClr val="F0F0F0"/>
        </a:accent2>
        <a:accent3>
          <a:srgbClr val="FFFFFF"/>
        </a:accent3>
        <a:accent4>
          <a:srgbClr val="000000"/>
        </a:accent4>
        <a:accent5>
          <a:srgbClr val="ACB2C1"/>
        </a:accent5>
        <a:accent6>
          <a:srgbClr val="D9D9D9"/>
        </a:accent6>
        <a:hlink>
          <a:srgbClr val="88CABD"/>
        </a:hlink>
        <a:folHlink>
          <a:srgbClr val="A77BF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36505</TotalTime>
  <Words>1563</Words>
  <Application>Microsoft Macintosh PowerPoint</Application>
  <PresentationFormat>Custom</PresentationFormat>
  <Paragraphs>262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Garamond</vt:lpstr>
      <vt:lpstr>Montserrat</vt:lpstr>
      <vt:lpstr>Open Sans</vt:lpstr>
      <vt:lpstr>Suez One</vt:lpstr>
      <vt:lpstr>Wingdings</vt:lpstr>
      <vt:lpstr>Blank</vt:lpstr>
      <vt:lpstr>PowerPoint Presentation</vt:lpstr>
      <vt:lpstr>PowerPoint Presentation</vt:lpstr>
      <vt:lpstr>Situation Update &amp; Executive Summary</vt:lpstr>
      <vt:lpstr>Situation Update</vt:lpstr>
      <vt:lpstr>PowerPoint Presentation</vt:lpstr>
      <vt:lpstr>[ ] </vt:lpstr>
      <vt:lpstr>PowerPoint Presentation</vt:lpstr>
      <vt:lpstr>PowerPoint Presentation</vt:lpstr>
      <vt:lpstr>PowerPoint Presentation</vt:lpstr>
      <vt:lpstr>Platform Overview</vt:lpstr>
      <vt:lpstr>PowerPoint Presentation</vt:lpstr>
      <vt:lpstr>PowerPoint Presentation</vt:lpstr>
      <vt:lpstr>Fish Reef Project</vt:lpstr>
      <vt:lpstr>PowerPoint Presentation</vt:lpstr>
      <vt:lpstr>Baja Project Investment Perspectives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Absinthe</dc:title>
  <dc:subject/>
  <dc:creator>Evercore Presentations Group</dc:creator>
  <cp:keywords/>
  <dc:description/>
  <cp:lastModifiedBy>Whinfell</cp:lastModifiedBy>
  <cp:revision>804</cp:revision>
  <cp:lastPrinted>2023-01-11T19:15:43Z</cp:lastPrinted>
  <dcterms:created xsi:type="dcterms:W3CDTF">2012-12-13T22:50:03Z</dcterms:created>
  <dcterms:modified xsi:type="dcterms:W3CDTF">2023-03-11T21:54:44Z</dcterms:modified>
  <cp:category/>
</cp:coreProperties>
</file>